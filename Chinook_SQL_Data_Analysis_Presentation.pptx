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15"/>
    <p:restoredTop sz="91610"/>
  </p:normalViewPr>
  <p:slideViewPr>
    <p:cSldViewPr snapToGrid="0" snapToObjects="1">
      <p:cViewPr varScale="1">
        <p:scale>
          <a:sx n="143" d="100"/>
          <a:sy n="143" d="100"/>
        </p:scale>
        <p:origin x="92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AD71D-2E00-314D-8C36-0BFA0009ACC1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BEC5EB-2A03-DA43-B1D7-50D7391E4F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782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EC5EB-2A03-DA43-B1D7-50D7391E4F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28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EC5EB-2A03-DA43-B1D7-50D7391E4F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0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87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97824"/>
          </a:solidFill>
          <a:ln w="12700">
            <a:solidFill>
              <a:srgbClr val="E97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12700">
            <a:solidFill>
              <a:srgbClr val="D6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65745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Chinook Music Store • SQL Analysis &amp; Business Insights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82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3840480" cy="6693408"/>
          </a:xfrm>
          <a:prstGeom prst="rect">
            <a:avLst/>
          </a:prstGeom>
          <a:solidFill>
            <a:srgbClr val="18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2486578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CHINOOK</a:t>
            </a:r>
          </a:p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Music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67342" y="1234440"/>
            <a:ext cx="7842069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2D49"/>
                </a:solidFill>
                <a:latin typeface="Aptos Display"/>
              </a:defRPr>
            </a:pPr>
            <a:r>
              <a:rPr lang="en-IN" sz="2200" b="1" dirty="0"/>
              <a:t>SQL Analysis, Customer Insights &amp; Business Recommendations</a:t>
            </a:r>
            <a:endParaRPr sz="2200" dirty="0"/>
          </a:p>
          <a:p>
            <a:pPr>
              <a:defRPr sz="1500">
                <a:solidFill>
                  <a:srgbClr val="68727C"/>
                </a:solidFill>
                <a:latin typeface="Aptos"/>
              </a:defRPr>
            </a:pPr>
            <a:r>
              <a:rPr lang="en-IN" sz="1400" dirty="0"/>
              <a:t>Exploring sales, customer behaviour, product performance, and growth opportunities using SQL</a:t>
            </a:r>
            <a:endParaRPr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4480560" y="297180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80560" y="2971800"/>
            <a:ext cx="73152" cy="1051560"/>
          </a:xfrm>
          <a:prstGeom prst="rect">
            <a:avLst/>
          </a:prstGeom>
          <a:solidFill>
            <a:srgbClr val="2F6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5152" y="3081528"/>
            <a:ext cx="83708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D49"/>
                </a:solidFill>
                <a:latin typeface="Aptos Display"/>
              </a:defRPr>
            </a:pPr>
            <a:r>
              <a:rPr lang="en-US" dirty="0"/>
              <a:t>Sales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4645152" y="3502152"/>
            <a:ext cx="115127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8727C"/>
                </a:solidFill>
                <a:latin typeface="Aptos"/>
              </a:defRPr>
            </a:pPr>
            <a:r>
              <a:rPr lang="en-US" dirty="0"/>
              <a:t>Sales Performance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720840" y="297180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720840" y="2971800"/>
            <a:ext cx="73152" cy="1051560"/>
          </a:xfrm>
          <a:prstGeom prst="rect">
            <a:avLst/>
          </a:prstGeom>
          <a:solidFill>
            <a:srgbClr val="26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85431" y="3081528"/>
            <a:ext cx="153695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D49"/>
                </a:solidFill>
                <a:latin typeface="Aptos Display"/>
              </a:defRPr>
            </a:pPr>
            <a:r>
              <a:rPr lang="en-US" dirty="0"/>
              <a:t>Customers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885431" y="3502152"/>
            <a:ext cx="11208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8727C"/>
                </a:solidFill>
                <a:latin typeface="Aptos"/>
              </a:defRPr>
            </a:pPr>
            <a:r>
              <a:rPr lang="en-US" dirty="0"/>
              <a:t>Customer Insights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961120" y="2971800"/>
            <a:ext cx="20574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61120" y="2971800"/>
            <a:ext cx="73152" cy="1051560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25712" y="3081528"/>
            <a:ext cx="11526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D49"/>
                </a:solidFill>
                <a:latin typeface="Aptos Display"/>
              </a:defRPr>
            </a:pPr>
            <a:r>
              <a:rPr lang="en-US" dirty="0"/>
              <a:t>Growth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9125712" y="3502152"/>
            <a:ext cx="109517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8727C"/>
                </a:solidFill>
                <a:latin typeface="Aptos"/>
              </a:defRPr>
            </a:pPr>
            <a:r>
              <a:rPr lang="en-US" dirty="0"/>
              <a:t>Regional Strategy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4480560" y="4709160"/>
            <a:ext cx="6217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B343E"/>
                </a:solidFill>
                <a:latin typeface="Aptos"/>
              </a:defRPr>
            </a:pPr>
            <a:r>
              <a:rPr lang="en-US" dirty="0"/>
              <a:t>Presente</a:t>
            </a:r>
            <a:r>
              <a:rPr dirty="0"/>
              <a:t>d by:</a:t>
            </a:r>
            <a:r>
              <a:rPr lang="en-IN" dirty="0"/>
              <a:t> </a:t>
            </a:r>
            <a:r>
              <a:rPr lang="en-IN" u="sng" dirty="0"/>
              <a:t>Aditya Jadhav</a:t>
            </a:r>
            <a:endParaRPr u="sng" dirty="0"/>
          </a:p>
        </p:txBody>
      </p:sp>
      <p:sp>
        <p:nvSpPr>
          <p:cNvPr id="20" name="Rectangle 19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6601968"/>
            <a:ext cx="2392001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8727C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IN" sz="750" dirty="0"/>
              <a:t>Chinook Music Store </a:t>
            </a:r>
            <a:r>
              <a:rPr lang="en-IN" dirty="0"/>
              <a:t>•</a:t>
            </a:r>
            <a:r>
              <a:rPr lang="en-IN" sz="750" dirty="0"/>
              <a:t> SQL Analysis &amp; Business Insights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0972800" y="657453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27C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030A0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9"/>
                </a:solidFill>
                <a:latin typeface="Aptos Display"/>
              </a:defRPr>
            </a:pPr>
            <a:r>
              <a:rPr dirty="0"/>
              <a:t>Introduction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04672"/>
            <a:ext cx="2962671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8727C"/>
                </a:solidFill>
                <a:latin typeface="Aptos"/>
              </a:defRPr>
            </a:pPr>
            <a:r>
              <a:rPr lang="en-IN" dirty="0"/>
              <a:t>Turning Chinook data into clear business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4747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07734"/>
                </a:solidFill>
                <a:latin typeface="Aptos"/>
              </a:defRPr>
            </a:pPr>
            <a:r>
              <a:t>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1280160" cy="292608"/>
          </a:xfrm>
          <a:prstGeom prst="round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4788" y="1252728"/>
            <a:ext cx="73930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sz="1050" dirty="0"/>
              <a:t>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27632"/>
            <a:ext cx="5394960" cy="1271016"/>
          </a:xfrm>
          <a:prstGeom prst="roundRect">
            <a:avLst/>
          </a:prstGeom>
          <a:solidFill>
            <a:srgbClr val="F4F7FA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627632"/>
            <a:ext cx="73152" cy="1296000"/>
          </a:xfrm>
          <a:prstGeom prst="rect">
            <a:avLst/>
          </a:prstGeom>
          <a:solidFill>
            <a:srgbClr val="18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D49"/>
                </a:solidFill>
                <a:latin typeface="Aptos"/>
              </a:defRPr>
            </a:pPr>
            <a:r>
              <a:rPr dirty="0"/>
              <a:t>Business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085536"/>
            <a:ext cx="523036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343E"/>
                </a:solidFill>
                <a:latin typeface="Aptos"/>
              </a:defRPr>
            </a:pPr>
            <a:r>
              <a:rPr dirty="0"/>
              <a:t>Chinook wants to understand music sales, customer behavior and regional performance so management can improve promotion, retention and growth in the physical music market.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27632"/>
            <a:ext cx="5120640" cy="1005840"/>
          </a:xfrm>
          <a:prstGeom prst="roundRect">
            <a:avLst/>
          </a:prstGeom>
          <a:solidFill>
            <a:srgbClr val="F4F7FA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1627632"/>
            <a:ext cx="73152" cy="10058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0" y="2770632"/>
            <a:ext cx="5120640" cy="1005840"/>
          </a:xfrm>
          <a:prstGeom prst="roundRect">
            <a:avLst/>
          </a:prstGeom>
          <a:solidFill>
            <a:srgbClr val="F4F7FA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2770632"/>
            <a:ext cx="73152" cy="10058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65392" y="2880360"/>
            <a:ext cx="202959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2D49"/>
                </a:solidFill>
                <a:latin typeface="Aptos"/>
              </a:defRPr>
            </a:pPr>
            <a:r>
              <a:rPr lang="en-IN" dirty="0"/>
              <a:t>Customer Retention &amp; Churn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5641" y="2087046"/>
            <a:ext cx="46908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B343E"/>
                </a:solidFill>
                <a:latin typeface="Aptos"/>
              </a:defRPr>
            </a:pPr>
            <a:r>
              <a:rPr lang="en-IN" dirty="0"/>
              <a:t>Which specific genres, tracks, and albums generate the majority of store revenue?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913632"/>
            <a:ext cx="5120640" cy="1005840"/>
          </a:xfrm>
          <a:prstGeom prst="roundRect">
            <a:avLst/>
          </a:prstGeom>
          <a:solidFill>
            <a:srgbClr val="F4F7FA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3913632"/>
            <a:ext cx="73152" cy="1005840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65392" y="4023360"/>
            <a:ext cx="142795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2D49"/>
                </a:solidFill>
                <a:latin typeface="Aptos"/>
              </a:defRPr>
            </a:pPr>
            <a:r>
              <a:rPr lang="en-IN" dirty="0"/>
              <a:t>Regional Expansion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389120"/>
            <a:ext cx="48463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B343E"/>
                </a:solidFill>
                <a:latin typeface="Aptos"/>
              </a:defRPr>
            </a:pPr>
            <a:r>
              <a:rPr lang="en-IN" dirty="0"/>
              <a:t>Which international markets and cities show the highest revenue density for growth?</a:t>
            </a:r>
          </a:p>
          <a:p>
            <a:pPr>
              <a:defRPr sz="1050">
                <a:solidFill>
                  <a:srgbClr val="2B343E"/>
                </a:solidFill>
                <a:latin typeface="Aptos"/>
              </a:defRPr>
            </a:pPr>
            <a:endParaRPr lang="en-IN" dirty="0"/>
          </a:p>
        </p:txBody>
      </p:sp>
      <p:sp>
        <p:nvSpPr>
          <p:cNvPr id="34" name="Rectangle 33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6601968"/>
            <a:ext cx="2465740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8727C"/>
                </a:solidFill>
                <a:latin typeface="Aptos"/>
              </a:defRPr>
            </a:pPr>
            <a:r>
              <a:rPr dirty="0"/>
              <a:t>• </a:t>
            </a:r>
            <a:r>
              <a:rPr lang="en-IN" dirty="0"/>
              <a:t>Chinook Music Store • SQL Analysis &amp; Business Insights</a:t>
            </a:r>
          </a:p>
          <a:p>
            <a:pPr>
              <a:defRPr sz="750">
                <a:solidFill>
                  <a:srgbClr val="68727C"/>
                </a:solidFill>
                <a:latin typeface="Aptos"/>
              </a:defRPr>
            </a:pP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10972800" y="657453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27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A68461-8667-7D4F-A3D8-A3A231D5B07A}"/>
              </a:ext>
            </a:extLst>
          </p:cNvPr>
          <p:cNvSpPr txBox="1"/>
          <p:nvPr/>
        </p:nvSpPr>
        <p:spPr>
          <a:xfrm>
            <a:off x="6594550" y="1767792"/>
            <a:ext cx="21411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ptos"/>
              </a:defRPr>
            </a:pPr>
            <a:r>
              <a:rPr sz="1200" dirty="0"/>
              <a:t>Sales &amp; Product Drivers</a:t>
            </a:r>
            <a:endParaRPr 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55CC93-D88B-0D47-A1E0-673376206C34}"/>
              </a:ext>
            </a:extLst>
          </p:cNvPr>
          <p:cNvSpPr txBox="1"/>
          <p:nvPr/>
        </p:nvSpPr>
        <p:spPr>
          <a:xfrm>
            <a:off x="6571606" y="3226174"/>
            <a:ext cx="48493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B343E"/>
                </a:solidFill>
                <a:latin typeface="Aptos"/>
              </a:defRPr>
            </a:pPr>
            <a:r>
              <a:rPr lang="en-IN" dirty="0"/>
              <a:t>Who are the highest-value accounts, and which customers are at risk of churning?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9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04672"/>
            <a:ext cx="2961067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8727C"/>
                </a:solidFill>
                <a:latin typeface="Aptos"/>
              </a:defRPr>
            </a:pPr>
            <a:r>
              <a:rPr dirty="0"/>
              <a:t>The analysis covers </a:t>
            </a:r>
            <a:r>
              <a:rPr lang="en-US" dirty="0"/>
              <a:t>four-part analytical framework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4747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07734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" y="6601968"/>
            <a:ext cx="2414444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8727C"/>
                </a:solidFill>
                <a:latin typeface="Aptos"/>
              </a:defRPr>
            </a:pPr>
            <a:r>
              <a:rPr lang="en-IN" dirty="0"/>
              <a:t>• Chinook Music Store • SQL Analysis &amp; Business Insights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7453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27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B7C3EE1-6A9E-7748-A9FF-F943A5056E17}"/>
              </a:ext>
            </a:extLst>
          </p:cNvPr>
          <p:cNvSpPr/>
          <p:nvPr/>
        </p:nvSpPr>
        <p:spPr>
          <a:xfrm>
            <a:off x="6339148" y="1290599"/>
            <a:ext cx="5212080" cy="1550968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4" name="TextBox 2">
            <a:extLst>
              <a:ext uri="{FF2B5EF4-FFF2-40B4-BE49-F238E27FC236}">
                <a16:creationId xmlns:a16="http://schemas.microsoft.com/office/drawing/2014/main" id="{F697C5DF-C1C8-0C4A-92B0-09CC7B932E0F}"/>
              </a:ext>
            </a:extLst>
          </p:cNvPr>
          <p:cNvSpPr txBox="1"/>
          <p:nvPr/>
        </p:nvSpPr>
        <p:spPr>
          <a:xfrm>
            <a:off x="6544261" y="1470851"/>
            <a:ext cx="4732647" cy="595035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spcAft>
                <a:spcPts val="800"/>
              </a:spcAft>
              <a:defRPr sz="1800" b="1">
                <a:solidFill>
                  <a:srgbClr val="F97316"/>
                </a:solidFill>
                <a:latin typeface="Aptos"/>
              </a:defRPr>
            </a:pPr>
            <a:r>
              <a:rPr sz="1400" dirty="0"/>
              <a:t>02 </a:t>
            </a:r>
            <a:r>
              <a:rPr lang="en-US" sz="1400" dirty="0"/>
              <a:t> </a:t>
            </a:r>
            <a:r>
              <a:rPr sz="1400" dirty="0"/>
              <a:t>Sales &amp; Products</a:t>
            </a:r>
          </a:p>
          <a:p>
            <a:pPr>
              <a:defRPr sz="14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Analyze overall store revenue, top genres,</a:t>
            </a:r>
            <a:r>
              <a:rPr lang="en-US" sz="1200" dirty="0"/>
              <a:t> top artists</a:t>
            </a:r>
            <a:r>
              <a:rPr sz="1200" dirty="0"/>
              <a:t> and album sales.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8DF6DF0-B612-5748-830F-7BC3E6AA1478}"/>
              </a:ext>
            </a:extLst>
          </p:cNvPr>
          <p:cNvSpPr/>
          <p:nvPr/>
        </p:nvSpPr>
        <p:spPr>
          <a:xfrm>
            <a:off x="563684" y="1290599"/>
            <a:ext cx="5212080" cy="1550968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2" name="TextBox 1">
            <a:extLst>
              <a:ext uri="{FF2B5EF4-FFF2-40B4-BE49-F238E27FC236}">
                <a16:creationId xmlns:a16="http://schemas.microsoft.com/office/drawing/2014/main" id="{19BA935C-4637-DA43-B994-92A31754F145}"/>
              </a:ext>
            </a:extLst>
          </p:cNvPr>
          <p:cNvSpPr txBox="1"/>
          <p:nvPr/>
        </p:nvSpPr>
        <p:spPr>
          <a:xfrm>
            <a:off x="777240" y="1467292"/>
            <a:ext cx="4707436" cy="779701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spcAft>
                <a:spcPts val="800"/>
              </a:spcAft>
              <a:defRPr sz="1800" b="1">
                <a:solidFill>
                  <a:srgbClr val="F97316"/>
                </a:solidFill>
                <a:latin typeface="Aptos"/>
              </a:defRPr>
            </a:pPr>
            <a:r>
              <a:rPr sz="1400" dirty="0"/>
              <a:t>01</a:t>
            </a:r>
            <a:r>
              <a:rPr lang="en-US" sz="1400" dirty="0"/>
              <a:t> </a:t>
            </a:r>
            <a:r>
              <a:rPr sz="1400" dirty="0"/>
              <a:t> Data Quality</a:t>
            </a:r>
          </a:p>
          <a:p>
            <a:pPr>
              <a:defRPr sz="14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Check duplicates, NULL values, and verify data completeness across schema.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B42CF96-FFAC-8D44-A501-54BF4E965BDD}"/>
              </a:ext>
            </a:extLst>
          </p:cNvPr>
          <p:cNvSpPr/>
          <p:nvPr/>
        </p:nvSpPr>
        <p:spPr>
          <a:xfrm>
            <a:off x="502920" y="3652834"/>
            <a:ext cx="5212080" cy="1550968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9" name="TextBox 2">
            <a:extLst>
              <a:ext uri="{FF2B5EF4-FFF2-40B4-BE49-F238E27FC236}">
                <a16:creationId xmlns:a16="http://schemas.microsoft.com/office/drawing/2014/main" id="{EAA5840F-2A70-F84C-903B-9BD950DA9034}"/>
              </a:ext>
            </a:extLst>
          </p:cNvPr>
          <p:cNvSpPr txBox="1"/>
          <p:nvPr/>
        </p:nvSpPr>
        <p:spPr>
          <a:xfrm>
            <a:off x="777240" y="3870395"/>
            <a:ext cx="4663440" cy="595035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spcAft>
                <a:spcPts val="800"/>
              </a:spcAft>
              <a:defRPr sz="1800" b="1">
                <a:solidFill>
                  <a:srgbClr val="F97316"/>
                </a:solidFill>
                <a:latin typeface="Aptos"/>
              </a:defRPr>
            </a:pPr>
            <a:r>
              <a:rPr sz="1400" dirty="0"/>
              <a:t>03 </a:t>
            </a:r>
            <a:r>
              <a:rPr lang="en-US" sz="1400" dirty="0"/>
              <a:t> </a:t>
            </a:r>
            <a:r>
              <a:rPr sz="1400" dirty="0"/>
              <a:t>Customer Analytics</a:t>
            </a:r>
          </a:p>
          <a:p>
            <a:pPr>
              <a:defRPr sz="1400">
                <a:solidFill>
                  <a:srgbClr val="0F172A"/>
                </a:solidFill>
                <a:latin typeface="Aptos"/>
              </a:defRPr>
            </a:pPr>
            <a:r>
              <a:rPr sz="1200" dirty="0"/>
              <a:t>Evaluate individual purchase frequency, lifetime spend, and churn risk.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0A433019-F5E7-2B4F-9476-9278001CF481}"/>
              </a:ext>
            </a:extLst>
          </p:cNvPr>
          <p:cNvSpPr/>
          <p:nvPr/>
        </p:nvSpPr>
        <p:spPr>
          <a:xfrm>
            <a:off x="6339148" y="3652834"/>
            <a:ext cx="5212080" cy="1550968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1" name="TextBox 2">
            <a:extLst>
              <a:ext uri="{FF2B5EF4-FFF2-40B4-BE49-F238E27FC236}">
                <a16:creationId xmlns:a16="http://schemas.microsoft.com/office/drawing/2014/main" id="{48A1BB04-C27B-A942-A4A9-836D4DD7F9C9}"/>
              </a:ext>
            </a:extLst>
          </p:cNvPr>
          <p:cNvSpPr txBox="1"/>
          <p:nvPr/>
        </p:nvSpPr>
        <p:spPr>
          <a:xfrm>
            <a:off x="6613468" y="3871574"/>
            <a:ext cx="4663440" cy="779701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spcAft>
                <a:spcPts val="800"/>
              </a:spcAft>
              <a:defRPr sz="1800" b="1">
                <a:solidFill>
                  <a:srgbClr val="F97316"/>
                </a:solidFill>
                <a:latin typeface="Aptos"/>
              </a:defRPr>
            </a:pPr>
            <a:r>
              <a:rPr sz="1400" dirty="0"/>
              <a:t>04 </a:t>
            </a:r>
            <a:r>
              <a:rPr lang="en-US" sz="1400" dirty="0"/>
              <a:t> </a:t>
            </a:r>
            <a:r>
              <a:rPr sz="1400" dirty="0"/>
              <a:t>Regional Strategy</a:t>
            </a:r>
          </a:p>
          <a:p>
            <a:pPr>
              <a:defRPr sz="1400">
                <a:solidFill>
                  <a:srgbClr val="0F172A"/>
                </a:solidFill>
                <a:latin typeface="Aptos"/>
              </a:defRPr>
            </a:pPr>
            <a:r>
              <a:rPr lang="en-IN" sz="1200" dirty="0"/>
              <a:t>Analyze geographic revenue patterns to optimize localized pricing, marketing, and expansion.</a:t>
            </a:r>
            <a:endParaRPr sz="1200" dirty="0"/>
          </a:p>
        </p:txBody>
      </p:sp>
      <p:sp>
        <p:nvSpPr>
          <p:cNvPr id="54" name="TextBox 2">
            <a:extLst>
              <a:ext uri="{FF2B5EF4-FFF2-40B4-BE49-F238E27FC236}">
                <a16:creationId xmlns:a16="http://schemas.microsoft.com/office/drawing/2014/main" id="{4E3B6B75-AB9A-FE4A-9B4A-FA51B2B2F0D4}"/>
              </a:ext>
            </a:extLst>
          </p:cNvPr>
          <p:cNvSpPr txBox="1"/>
          <p:nvPr/>
        </p:nvSpPr>
        <p:spPr>
          <a:xfrm>
            <a:off x="2709103" y="5855071"/>
            <a:ext cx="5997663" cy="292388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dirty="0"/>
              <a:t>11 Core Tables   •   59 Customers   •   24 Countries   •   2017</a:t>
            </a:r>
            <a:r>
              <a:rPr lang="en-US" dirty="0"/>
              <a:t>-</a:t>
            </a:r>
            <a:r>
              <a:rPr dirty="0"/>
              <a:t>2020 Invoice Coverage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9"/>
                </a:solidFill>
                <a:latin typeface="Aptos Display"/>
              </a:defRPr>
            </a:pPr>
            <a:r>
              <a:rPr dirty="0"/>
              <a:t>Data Overview &amp; Database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04672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8727C"/>
                </a:solidFill>
                <a:latin typeface="Aptos"/>
              </a:defRPr>
            </a:pPr>
            <a:r>
              <a:rPr dirty="0"/>
              <a:t>The analysis uses the supplied Chinook SQL database and its relational 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4747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07734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31481" y="1098456"/>
            <a:ext cx="1645920" cy="845763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31481" y="1098456"/>
            <a:ext cx="73152" cy="84576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96073" y="1154394"/>
            <a:ext cx="6664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82D49"/>
                </a:solidFill>
                <a:latin typeface="Aptos Display"/>
              </a:defRPr>
            </a:pPr>
            <a:r>
              <a:rPr sz="2000" dirty="0"/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6073" y="1566053"/>
            <a:ext cx="83067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8727C"/>
                </a:solidFill>
                <a:latin typeface="Aptos"/>
              </a:defRPr>
            </a:pPr>
            <a:r>
              <a:rPr sz="1050" dirty="0"/>
              <a:t>Core tables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1481" y="2139796"/>
            <a:ext cx="1645920" cy="845763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31481" y="2139796"/>
            <a:ext cx="73152" cy="84576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6073" y="2195734"/>
            <a:ext cx="44435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D49"/>
                </a:solidFill>
                <a:latin typeface="Aptos Display"/>
              </a:defRPr>
            </a:pPr>
            <a:r>
              <a:rPr sz="2000" dirty="0"/>
              <a:t>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6073" y="2607393"/>
            <a:ext cx="79541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8727C"/>
                </a:solidFill>
                <a:latin typeface="Aptos"/>
              </a:defRPr>
            </a:pPr>
            <a:r>
              <a:rPr sz="1050" dirty="0"/>
              <a:t>Customers</a:t>
            </a:r>
            <a:endParaRPr sz="900" dirty="0"/>
          </a:p>
        </p:txBody>
      </p:sp>
      <p:sp>
        <p:nvSpPr>
          <p:cNvPr id="15" name="Rounded Rectangle 14"/>
          <p:cNvSpPr/>
          <p:nvPr/>
        </p:nvSpPr>
        <p:spPr>
          <a:xfrm>
            <a:off x="8031481" y="3266679"/>
            <a:ext cx="1645920" cy="845763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31481" y="3266679"/>
            <a:ext cx="73152" cy="845763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96073" y="3322617"/>
            <a:ext cx="44435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D49"/>
                </a:solidFill>
                <a:latin typeface="Aptos Display"/>
              </a:defRPr>
            </a:pPr>
            <a:r>
              <a:rPr sz="2000" dirty="0"/>
              <a:t>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6073" y="3734276"/>
            <a:ext cx="73449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8727C"/>
                </a:solidFill>
                <a:latin typeface="Aptos"/>
              </a:defRPr>
            </a:pPr>
            <a:r>
              <a:rPr sz="1050" dirty="0"/>
              <a:t>Countries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1481" y="4366250"/>
            <a:ext cx="1645920" cy="845763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31481" y="4366250"/>
            <a:ext cx="73152" cy="84576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8820" y="4422188"/>
            <a:ext cx="135966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D49"/>
                </a:solidFill>
                <a:latin typeface="Aptos Display"/>
              </a:defRPr>
            </a:pPr>
            <a:r>
              <a:rPr sz="2000" dirty="0"/>
              <a:t>2017</a:t>
            </a:r>
            <a:r>
              <a:rPr lang="en-US" sz="2000" dirty="0"/>
              <a:t>- </a:t>
            </a:r>
            <a:r>
              <a:rPr sz="2000" dirty="0"/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6073" y="4833847"/>
            <a:ext cx="99899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8727C"/>
                </a:solidFill>
                <a:latin typeface="Aptos"/>
              </a:defRPr>
            </a:pPr>
            <a:r>
              <a:rPr sz="1050" dirty="0"/>
              <a:t>Invoice period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1481" y="5465854"/>
            <a:ext cx="3566159" cy="845763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31481" y="5465854"/>
            <a:ext cx="73152" cy="84576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96073" y="5878587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B343E"/>
                </a:solidFill>
                <a:latin typeface="Aptos"/>
              </a:defRPr>
            </a:pPr>
            <a:r>
              <a:rPr lang="en-IN" sz="1050" dirty="0">
                <a:solidFill>
                  <a:schemeClr val="bg1">
                    <a:lumMod val="50000"/>
                  </a:schemeClr>
                </a:solidFill>
              </a:rPr>
              <a:t>No duplicate records were found across the database. NULL values were identified in some optional fields.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6601968"/>
            <a:ext cx="2414444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8727C"/>
                </a:solidFill>
                <a:latin typeface="Aptos"/>
              </a:defRPr>
            </a:pPr>
            <a:r>
              <a:rPr lang="en-IN" dirty="0"/>
              <a:t>• Chinook Music Store • SQL Analysis &amp; Business 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7453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27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E5C279-6CDA-FF4E-BB2F-BFBA9D61AF30}"/>
              </a:ext>
            </a:extLst>
          </p:cNvPr>
          <p:cNvSpPr txBox="1"/>
          <p:nvPr/>
        </p:nvSpPr>
        <p:spPr>
          <a:xfrm>
            <a:off x="8187108" y="5493649"/>
            <a:ext cx="151669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D49"/>
                </a:solidFill>
                <a:latin typeface="Aptos Display"/>
              </a:defRPr>
            </a:pPr>
            <a:r>
              <a:rPr lang="en-US" sz="2000" dirty="0"/>
              <a:t>Data Quality</a:t>
            </a:r>
            <a:endParaRPr sz="2000" dirty="0"/>
          </a:p>
        </p:txBody>
      </p:sp>
      <p:pic>
        <p:nvPicPr>
          <p:cNvPr id="40" name="Picture 39" descr="image2.png">
            <a:extLst>
              <a:ext uri="{FF2B5EF4-FFF2-40B4-BE49-F238E27FC236}">
                <a16:creationId xmlns:a16="http://schemas.microsoft.com/office/drawing/2014/main" id="{13BC6C23-CFE2-464C-AFFB-FBBE8B6A4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858" y="1513956"/>
            <a:ext cx="4425875" cy="42527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9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04672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8727C"/>
                </a:solidFill>
                <a:latin typeface="Aptos"/>
              </a:defRPr>
            </a:pPr>
            <a:r>
              <a:t>A repeatable SQL workflow was used from data validation through recommendations.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347472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07734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1417492"/>
            <a:ext cx="468000" cy="46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9350" y="151807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79" y="2057400"/>
            <a:ext cx="1874519" cy="1115568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79" y="2057400"/>
            <a:ext cx="73152" cy="111556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1" y="2167128"/>
            <a:ext cx="1600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D49"/>
                </a:solidFill>
                <a:latin typeface="Aptos"/>
              </a:defRPr>
            </a:pPr>
            <a:r>
              <a:rPr dirty="0"/>
              <a:t>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1" y="2532888"/>
            <a:ext cx="148581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2B343E"/>
                </a:solidFill>
                <a:latin typeface="Aptos"/>
              </a:defRPr>
            </a:pPr>
            <a:r>
              <a:rPr sz="1050" dirty="0"/>
              <a:t>Review tables, keys, relationships and business questions.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3337560" y="1417492"/>
            <a:ext cx="468000" cy="46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9630" y="151807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2057400"/>
            <a:ext cx="1874519" cy="1115568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51760" y="2057400"/>
            <a:ext cx="73152" cy="1115568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16352" y="2167128"/>
            <a:ext cx="1600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D49"/>
                </a:solidFill>
                <a:latin typeface="Aptos"/>
              </a:defRPr>
            </a:pPr>
            <a:r>
              <a:rPr dirty="0"/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3" y="2532888"/>
            <a:ext cx="152704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2B343E"/>
                </a:solidFill>
                <a:latin typeface="Aptos"/>
              </a:defRPr>
            </a:pPr>
            <a:r>
              <a:rPr sz="1050" dirty="0"/>
              <a:t>Check NULLs and duplicates; understand data limitations.</a:t>
            </a:r>
          </a:p>
        </p:txBody>
      </p:sp>
      <p:sp>
        <p:nvSpPr>
          <p:cNvPr id="19" name="Oval 18"/>
          <p:cNvSpPr/>
          <p:nvPr/>
        </p:nvSpPr>
        <p:spPr>
          <a:xfrm>
            <a:off x="5577840" y="1417492"/>
            <a:ext cx="468000" cy="46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59910" y="151807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057400"/>
            <a:ext cx="1874519" cy="1115568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92040" y="2057400"/>
            <a:ext cx="73152" cy="111556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56632" y="2167128"/>
            <a:ext cx="1600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D49"/>
                </a:solidFill>
                <a:latin typeface="Aptos"/>
              </a:defRPr>
            </a:pPr>
            <a:r>
              <a:rPr dirty="0"/>
              <a:t>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56632" y="2532888"/>
            <a:ext cx="1527047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2B343E"/>
                </a:solidFill>
                <a:latin typeface="Aptos"/>
              </a:defRPr>
            </a:pPr>
            <a:r>
              <a:rPr sz="1050" dirty="0"/>
              <a:t>Use joins, GROUP BY, aggregates, CTEs and window functions.</a:t>
            </a:r>
          </a:p>
        </p:txBody>
      </p:sp>
      <p:sp>
        <p:nvSpPr>
          <p:cNvPr id="25" name="Oval 24"/>
          <p:cNvSpPr/>
          <p:nvPr/>
        </p:nvSpPr>
        <p:spPr>
          <a:xfrm>
            <a:off x="7818120" y="1417492"/>
            <a:ext cx="468000" cy="46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00190" y="151807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2057400"/>
            <a:ext cx="1874519" cy="1115568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132320" y="2057400"/>
            <a:ext cx="73152" cy="111556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96912" y="2167128"/>
            <a:ext cx="1600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D49"/>
                </a:solidFill>
                <a:latin typeface="Aptos"/>
              </a:defRPr>
            </a:pPr>
            <a:r>
              <a:rPr dirty="0"/>
              <a:t>Visualize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6912" y="2532888"/>
            <a:ext cx="160019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2B343E"/>
                </a:solidFill>
                <a:latin typeface="Aptos"/>
              </a:defRPr>
            </a:pPr>
            <a:r>
              <a:rPr sz="1050" dirty="0"/>
              <a:t>Use charts/tables to make patterns easy to compare.</a:t>
            </a:r>
          </a:p>
        </p:txBody>
      </p:sp>
      <p:sp>
        <p:nvSpPr>
          <p:cNvPr id="31" name="Oval 30"/>
          <p:cNvSpPr/>
          <p:nvPr/>
        </p:nvSpPr>
        <p:spPr>
          <a:xfrm>
            <a:off x="10058400" y="1417492"/>
            <a:ext cx="468000" cy="468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40470" y="151807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72600" y="2057400"/>
            <a:ext cx="1874519" cy="1115568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372600" y="2057400"/>
            <a:ext cx="73152" cy="111556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37192" y="2167128"/>
            <a:ext cx="1600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82D49"/>
                </a:solidFill>
                <a:latin typeface="Aptos"/>
              </a:defRPr>
            </a:pPr>
            <a:r>
              <a:rPr dirty="0"/>
              <a:t>Recommend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7192" y="2532888"/>
            <a:ext cx="160019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19">
                <a:solidFill>
                  <a:srgbClr val="2B343E"/>
                </a:solidFill>
                <a:latin typeface="Aptos"/>
              </a:defRPr>
            </a:pPr>
            <a:r>
              <a:rPr sz="1050" dirty="0"/>
              <a:t>Tie actions directly to observed sales, customer and regional evidence.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79" y="3766699"/>
            <a:ext cx="1645920" cy="29260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7961" y="3784986"/>
            <a:ext cx="119295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sz="1000" dirty="0"/>
              <a:t>SQL TOOLKIT USED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251960"/>
            <a:ext cx="3429000" cy="77724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0080" y="4251960"/>
            <a:ext cx="73152" cy="7772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4671" y="436168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82D49"/>
                </a:solidFill>
                <a:latin typeface="Aptos"/>
              </a:defRPr>
            </a:pPr>
            <a:r>
              <a:rPr dirty="0"/>
              <a:t>Joins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1" y="4727448"/>
            <a:ext cx="315468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B343E"/>
                </a:solidFill>
                <a:latin typeface="Aptos"/>
              </a:defRPr>
            </a:pPr>
            <a:r>
              <a:rPr dirty="0"/>
              <a:t>Customer, invoice, line, track, album, artist, genre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43400" y="4251960"/>
            <a:ext cx="3429000" cy="77724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343400" y="4251960"/>
            <a:ext cx="73152" cy="7772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07992" y="436168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82D49"/>
                </a:solidFill>
                <a:latin typeface="Aptos"/>
              </a:defRPr>
            </a:pPr>
            <a:r>
              <a:t>Aggregations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07992" y="4727448"/>
            <a:ext cx="315468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B343E"/>
                </a:solidFill>
                <a:latin typeface="Aptos"/>
              </a:defRPr>
            </a:pPr>
            <a:r>
              <a:t>SUM, COUNT, AVG, MAX, GROUP BY, HAVING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19" y="4251960"/>
            <a:ext cx="3429000" cy="77724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046719" y="4251960"/>
            <a:ext cx="73152" cy="777240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11311" y="436168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82D49"/>
                </a:solidFill>
                <a:latin typeface="Aptos"/>
              </a:defRPr>
            </a:pPr>
            <a:r>
              <a:t>CTEs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11311" y="4727448"/>
            <a:ext cx="315468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B343E"/>
                </a:solidFill>
                <a:latin typeface="Aptos"/>
              </a:defRPr>
            </a:pPr>
            <a:r>
              <a:t>Readable multi-step analysis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5212080"/>
            <a:ext cx="3429000" cy="77724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40080" y="5212080"/>
            <a:ext cx="73152" cy="7772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4671" y="532180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82D49"/>
                </a:solidFill>
                <a:latin typeface="Aptos"/>
              </a:defRPr>
            </a:pPr>
            <a:r>
              <a:t>Window functions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1" y="5687568"/>
            <a:ext cx="315468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B343E"/>
                </a:solidFill>
                <a:latin typeface="Aptos"/>
              </a:defRPr>
            </a:pPr>
            <a:r>
              <a:t>RANK(), ROW_NUMBER()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43400" y="5212080"/>
            <a:ext cx="3429000" cy="77724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343400" y="5212080"/>
            <a:ext cx="73152" cy="7772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07992" y="532180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82D49"/>
                </a:solidFill>
                <a:latin typeface="Aptos"/>
              </a:defRPr>
            </a:pPr>
            <a:r>
              <a:rPr dirty="0"/>
              <a:t>Date logic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07992" y="5687568"/>
            <a:ext cx="315468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B343E"/>
                </a:solidFill>
                <a:latin typeface="Aptos"/>
              </a:defRPr>
            </a:pPr>
            <a:r>
              <a:t>DATEDIFF(), DATE_SUB(), MAX(invoice_date)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46719" y="5212080"/>
            <a:ext cx="3429000" cy="777240"/>
          </a:xfrm>
          <a:prstGeom prst="roundRect">
            <a:avLst/>
          </a:prstGeom>
          <a:solidFill>
            <a:srgbClr val="F4F7FA"/>
          </a:solidFill>
          <a:ln>
            <a:solidFill>
              <a:srgbClr val="DE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046719" y="5212080"/>
            <a:ext cx="73152" cy="77724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11311" y="5321808"/>
            <a:ext cx="3154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82D49"/>
                </a:solidFill>
                <a:latin typeface="Aptos"/>
              </a:defRPr>
            </a:pPr>
            <a:r>
              <a:t>DDL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11311" y="5687568"/>
            <a:ext cx="3154680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80">
                <a:solidFill>
                  <a:srgbClr val="2B343E"/>
                </a:solidFill>
                <a:latin typeface="Aptos"/>
              </a:defRPr>
            </a:pPr>
            <a:r>
              <a:t>ALTER TABLE + DESC verification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30352" y="6601968"/>
            <a:ext cx="2414444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8727C"/>
                </a:solidFill>
                <a:latin typeface="Aptos"/>
              </a:defRPr>
            </a:pPr>
            <a:r>
              <a:rPr lang="en-IN" dirty="0"/>
              <a:t>• Chinook Music Store • SQL Analysis &amp; Business Insights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972800" y="657453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27C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1965" y="329182"/>
            <a:ext cx="783278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9"/>
                </a:solidFill>
                <a:latin typeface="Aptos Display"/>
              </a:defRPr>
            </a:pPr>
            <a:r>
              <a:rPr dirty="0"/>
              <a:t>Analysis </a:t>
            </a:r>
            <a:r>
              <a:rPr lang="en-US" dirty="0"/>
              <a:t>1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Data Quality, USA Sales &amp; Geograph</a:t>
            </a:r>
            <a:r>
              <a:rPr lang="en-US" dirty="0"/>
              <a:t>ic Insights</a:t>
            </a:r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6601968"/>
            <a:ext cx="2414444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8727C"/>
                </a:solidFill>
                <a:latin typeface="Aptos"/>
              </a:defRPr>
            </a:pPr>
            <a:r>
              <a:rPr lang="en-IN" dirty="0"/>
              <a:t>• Chinook Music Store • SQL Analysis &amp; Business 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7453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27C"/>
                </a:solidFill>
                <a:latin typeface="Aptos"/>
              </a:defRPr>
            </a:pPr>
            <a:r>
              <a:t>6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732694D-1A66-C14E-96E6-A76770D5FB13}"/>
              </a:ext>
            </a:extLst>
          </p:cNvPr>
          <p:cNvGrpSpPr/>
          <p:nvPr/>
        </p:nvGrpSpPr>
        <p:grpSpPr>
          <a:xfrm>
            <a:off x="231965" y="1115888"/>
            <a:ext cx="5007805" cy="4592780"/>
            <a:chOff x="530353" y="1239530"/>
            <a:chExt cx="6077482" cy="4592780"/>
          </a:xfrm>
        </p:grpSpPr>
        <p:sp>
          <p:nvSpPr>
            <p:cNvPr id="43" name="Shape 3">
              <a:extLst>
                <a:ext uri="{FF2B5EF4-FFF2-40B4-BE49-F238E27FC236}">
                  <a16:creationId xmlns:a16="http://schemas.microsoft.com/office/drawing/2014/main" id="{74A39724-B333-E745-A515-1CE4EF6F2AFC}"/>
                </a:ext>
              </a:extLst>
            </p:cNvPr>
            <p:cNvSpPr/>
            <p:nvPr/>
          </p:nvSpPr>
          <p:spPr>
            <a:xfrm>
              <a:off x="530353" y="1239530"/>
              <a:ext cx="6077482" cy="1028220"/>
            </a:xfrm>
            <a:prstGeom prst="roundRect">
              <a:avLst>
                <a:gd name="adj" fmla="val 7265"/>
              </a:avLst>
            </a:prstGeom>
            <a:solidFill>
              <a:schemeClr val="accent6"/>
            </a:solidFill>
            <a:ln w="6350">
              <a:solidFill>
                <a:srgbClr val="DFB8BC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Text 4">
              <a:extLst>
                <a:ext uri="{FF2B5EF4-FFF2-40B4-BE49-F238E27FC236}">
                  <a16:creationId xmlns:a16="http://schemas.microsoft.com/office/drawing/2014/main" id="{2FFEAFEF-71B5-1E4B-A837-5F25127C8ADB}"/>
                </a:ext>
              </a:extLst>
            </p:cNvPr>
            <p:cNvSpPr/>
            <p:nvPr/>
          </p:nvSpPr>
          <p:spPr>
            <a:xfrm>
              <a:off x="691725" y="1424258"/>
              <a:ext cx="5754738" cy="292458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>
                <a:defRPr sz="1250" b="1">
                  <a:solidFill>
                    <a:srgbClr val="182D49"/>
                  </a:solidFill>
                  <a:latin typeface="Aptos"/>
                </a:defRPr>
              </a:pPr>
              <a:r>
                <a:rPr lang="en-IN" dirty="0">
                  <a:solidFill>
                    <a:schemeClr val="bg1"/>
                  </a:solidFill>
                </a:rPr>
                <a:t>DATA QUALITY</a:t>
              </a:r>
            </a:p>
          </p:txBody>
        </p:sp>
        <p:sp>
          <p:nvSpPr>
            <p:cNvPr id="45" name="Text 5">
              <a:extLst>
                <a:ext uri="{FF2B5EF4-FFF2-40B4-BE49-F238E27FC236}">
                  <a16:creationId xmlns:a16="http://schemas.microsoft.com/office/drawing/2014/main" id="{C1B61D55-9DC2-4240-8B98-FEB3529E6B68}"/>
                </a:ext>
              </a:extLst>
            </p:cNvPr>
            <p:cNvSpPr/>
            <p:nvPr/>
          </p:nvSpPr>
          <p:spPr>
            <a:xfrm>
              <a:off x="691725" y="1812718"/>
              <a:ext cx="3940510" cy="355579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>
                <a:defRPr sz="103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schemeClr val="bg1"/>
                  </a:solidFill>
                </a:rPr>
                <a:t>No duplicate records found. NULLs are concentrated in optional fields </a:t>
              </a:r>
            </a:p>
            <a:p>
              <a:pPr>
                <a:defRPr sz="103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schemeClr val="bg1"/>
                  </a:solidFill>
                </a:rPr>
                <a:t>like composer, company, phone and state.</a:t>
              </a:r>
            </a:p>
          </p:txBody>
        </p:sp>
        <p:sp>
          <p:nvSpPr>
            <p:cNvPr id="46" name="Shape 6">
              <a:extLst>
                <a:ext uri="{FF2B5EF4-FFF2-40B4-BE49-F238E27FC236}">
                  <a16:creationId xmlns:a16="http://schemas.microsoft.com/office/drawing/2014/main" id="{06C982F7-BC32-CA4F-B615-F35757DA741E}"/>
                </a:ext>
              </a:extLst>
            </p:cNvPr>
            <p:cNvSpPr/>
            <p:nvPr/>
          </p:nvSpPr>
          <p:spPr>
            <a:xfrm>
              <a:off x="530353" y="2427718"/>
              <a:ext cx="6077482" cy="1028220"/>
            </a:xfrm>
            <a:prstGeom prst="roundRect">
              <a:avLst>
                <a:gd name="adj" fmla="val 7265"/>
              </a:avLst>
            </a:prstGeom>
            <a:solidFill>
              <a:schemeClr val="accent6"/>
            </a:solidFill>
            <a:ln w="6350">
              <a:solidFill>
                <a:srgbClr val="DFB8BC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Text 7">
              <a:extLst>
                <a:ext uri="{FF2B5EF4-FFF2-40B4-BE49-F238E27FC236}">
                  <a16:creationId xmlns:a16="http://schemas.microsoft.com/office/drawing/2014/main" id="{F21B107A-B6F6-4847-AF75-17C062C06F10}"/>
                </a:ext>
              </a:extLst>
            </p:cNvPr>
            <p:cNvSpPr/>
            <p:nvPr/>
          </p:nvSpPr>
          <p:spPr>
            <a:xfrm>
              <a:off x="691726" y="2612445"/>
              <a:ext cx="1828915" cy="270304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>
                <a:defRPr sz="850" b="1">
                  <a:solidFill>
                    <a:srgbClr val="FFFFFF"/>
                  </a:solidFill>
                  <a:latin typeface="Aptos"/>
                </a:defRPr>
              </a:pPr>
              <a:r>
                <a:rPr lang="en-IN" sz="1250" dirty="0"/>
                <a:t>USA TOP TRACKS</a:t>
              </a:r>
            </a:p>
          </p:txBody>
        </p:sp>
        <p:sp>
          <p:nvSpPr>
            <p:cNvPr id="48" name="Text 8">
              <a:extLst>
                <a:ext uri="{FF2B5EF4-FFF2-40B4-BE49-F238E27FC236}">
                  <a16:creationId xmlns:a16="http://schemas.microsoft.com/office/drawing/2014/main" id="{869855F1-AE17-0643-A9FB-689C9239337B}"/>
                </a:ext>
              </a:extLst>
            </p:cNvPr>
            <p:cNvSpPr/>
            <p:nvPr/>
          </p:nvSpPr>
          <p:spPr>
            <a:xfrm>
              <a:off x="691725" y="2965970"/>
              <a:ext cx="5754738" cy="474254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>
                <a:spcAft>
                  <a:spcPts val="500"/>
                </a:spcAft>
                <a:defRPr sz="105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schemeClr val="bg1"/>
                  </a:solidFill>
                </a:rPr>
                <a:t>War Pigs leads USA track sales at $5.94.</a:t>
              </a:r>
            </a:p>
            <a:p>
              <a:pPr>
                <a:spcAft>
                  <a:spcPts val="500"/>
                </a:spcAft>
                <a:defRPr sz="105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schemeClr val="bg1"/>
                  </a:solidFill>
                </a:rPr>
                <a:t>Van Halen is the top artist at $42.57; Rock is the top genre for Van Halen.</a:t>
              </a:r>
            </a:p>
          </p:txBody>
        </p:sp>
        <p:sp>
          <p:nvSpPr>
            <p:cNvPr id="49" name="Shape 9">
              <a:extLst>
                <a:ext uri="{FF2B5EF4-FFF2-40B4-BE49-F238E27FC236}">
                  <a16:creationId xmlns:a16="http://schemas.microsoft.com/office/drawing/2014/main" id="{F1136729-42D4-C14B-9711-FE465AE6DD2D}"/>
                </a:ext>
              </a:extLst>
            </p:cNvPr>
            <p:cNvSpPr/>
            <p:nvPr/>
          </p:nvSpPr>
          <p:spPr>
            <a:xfrm>
              <a:off x="530353" y="3615904"/>
              <a:ext cx="6077482" cy="1028220"/>
            </a:xfrm>
            <a:prstGeom prst="roundRect">
              <a:avLst>
                <a:gd name="adj" fmla="val 7265"/>
              </a:avLst>
            </a:prstGeom>
            <a:solidFill>
              <a:schemeClr val="accent6"/>
            </a:solidFill>
            <a:ln w="6350">
              <a:solidFill>
                <a:srgbClr val="DFB8BC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50" name="Text 10">
              <a:extLst>
                <a:ext uri="{FF2B5EF4-FFF2-40B4-BE49-F238E27FC236}">
                  <a16:creationId xmlns:a16="http://schemas.microsoft.com/office/drawing/2014/main" id="{3FEC5CF9-8779-664D-BAC4-907836A61573}"/>
                </a:ext>
              </a:extLst>
            </p:cNvPr>
            <p:cNvSpPr/>
            <p:nvPr/>
          </p:nvSpPr>
          <p:spPr>
            <a:xfrm>
              <a:off x="691724" y="3800630"/>
              <a:ext cx="2244372" cy="334544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>
                <a:defRPr sz="850" b="1">
                  <a:solidFill>
                    <a:srgbClr val="FFFFFF"/>
                  </a:solidFill>
                  <a:latin typeface="Aptos"/>
                </a:defRPr>
              </a:pPr>
              <a:r>
                <a:rPr lang="en-IN" sz="1250" dirty="0"/>
                <a:t>CUSTOMER ANALYTICS</a:t>
              </a:r>
            </a:p>
          </p:txBody>
        </p:sp>
        <p:sp>
          <p:nvSpPr>
            <p:cNvPr id="51" name="Text 11">
              <a:extLst>
                <a:ext uri="{FF2B5EF4-FFF2-40B4-BE49-F238E27FC236}">
                  <a16:creationId xmlns:a16="http://schemas.microsoft.com/office/drawing/2014/main" id="{91BA23ED-22F2-E74D-8A06-042B28D6682D}"/>
                </a:ext>
              </a:extLst>
            </p:cNvPr>
            <p:cNvSpPr/>
            <p:nvPr/>
          </p:nvSpPr>
          <p:spPr>
            <a:xfrm>
              <a:off x="691725" y="4189090"/>
              <a:ext cx="3940510" cy="411049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>
                <a:defRPr sz="103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prstClr val="white"/>
                  </a:solidFill>
                  <a:latin typeface="Aptos"/>
                </a:rPr>
                <a:t>USA has the largest customer base (13), followed by Canada (8).</a:t>
              </a:r>
            </a:p>
            <a:p>
              <a:pPr lvl="0">
                <a:defRPr sz="103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prstClr val="white"/>
                  </a:solidFill>
                  <a:latin typeface="Aptos"/>
                </a:rPr>
                <a:t>15 of 24 countries have only one customer.</a:t>
              </a:r>
            </a:p>
          </p:txBody>
        </p:sp>
        <p:sp>
          <p:nvSpPr>
            <p:cNvPr id="52" name="Shape 12">
              <a:extLst>
                <a:ext uri="{FF2B5EF4-FFF2-40B4-BE49-F238E27FC236}">
                  <a16:creationId xmlns:a16="http://schemas.microsoft.com/office/drawing/2014/main" id="{9ADEB4C7-94B7-0642-9ADF-A465259436E1}"/>
                </a:ext>
              </a:extLst>
            </p:cNvPr>
            <p:cNvSpPr/>
            <p:nvPr/>
          </p:nvSpPr>
          <p:spPr>
            <a:xfrm>
              <a:off x="530353" y="4804090"/>
              <a:ext cx="6077482" cy="1028220"/>
            </a:xfrm>
            <a:prstGeom prst="roundRect">
              <a:avLst>
                <a:gd name="adj" fmla="val 7265"/>
              </a:avLst>
            </a:prstGeom>
            <a:solidFill>
              <a:schemeClr val="accent6"/>
            </a:solidFill>
            <a:ln w="6350">
              <a:solidFill>
                <a:srgbClr val="DFB8BC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Text 13">
              <a:extLst>
                <a:ext uri="{FF2B5EF4-FFF2-40B4-BE49-F238E27FC236}">
                  <a16:creationId xmlns:a16="http://schemas.microsoft.com/office/drawing/2014/main" id="{030FB798-4739-BF4F-82CB-BA76FB2264A7}"/>
                </a:ext>
              </a:extLst>
            </p:cNvPr>
            <p:cNvSpPr/>
            <p:nvPr/>
          </p:nvSpPr>
          <p:spPr>
            <a:xfrm>
              <a:off x="691726" y="4988817"/>
              <a:ext cx="2092865" cy="319269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>
                <a:defRPr sz="850" b="1">
                  <a:solidFill>
                    <a:srgbClr val="FFFFFF"/>
                  </a:solidFill>
                  <a:latin typeface="Aptos"/>
                </a:defRPr>
              </a:pPr>
              <a:r>
                <a:rPr lang="en-IN" sz="1250" dirty="0"/>
                <a:t>REVENUE &amp; INVOICES</a:t>
              </a:r>
            </a:p>
          </p:txBody>
        </p:sp>
        <p:sp>
          <p:nvSpPr>
            <p:cNvPr id="54" name="Text 14">
              <a:extLst>
                <a:ext uri="{FF2B5EF4-FFF2-40B4-BE49-F238E27FC236}">
                  <a16:creationId xmlns:a16="http://schemas.microsoft.com/office/drawing/2014/main" id="{F61366BC-0772-9743-BC0F-05C986F812AD}"/>
                </a:ext>
              </a:extLst>
            </p:cNvPr>
            <p:cNvSpPr/>
            <p:nvPr/>
          </p:nvSpPr>
          <p:spPr>
            <a:xfrm>
              <a:off x="691725" y="5339510"/>
              <a:ext cx="3940510" cy="455031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>
                <a:spcAft>
                  <a:spcPts val="500"/>
                </a:spcAft>
                <a:defRPr sz="95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schemeClr val="bg1"/>
                  </a:solidFill>
                  <a:latin typeface="Aptos"/>
                  <a:ea typeface="+mn-ea"/>
                  <a:cs typeface="+mn-cs"/>
                </a:rPr>
                <a:t>USA leads with $1,040.49 revenue and 131 invoices.</a:t>
              </a:r>
            </a:p>
            <a:p>
              <a:pPr lvl="0">
                <a:spcAft>
                  <a:spcPts val="500"/>
                </a:spcAft>
                <a:defRPr sz="95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schemeClr val="bg1"/>
                  </a:solidFill>
                  <a:latin typeface="Aptos"/>
                  <a:ea typeface="+mn-ea"/>
                  <a:cs typeface="+mn-cs"/>
                </a:rPr>
                <a:t>Canada is second with $535.59 and 76 invoices.</a:t>
              </a:r>
            </a:p>
          </p:txBody>
        </p: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DC386653-08A3-2942-AC25-8D0EFB746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736" y="1025691"/>
            <a:ext cx="6488300" cy="484319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8678" y="308912"/>
            <a:ext cx="821032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9"/>
                </a:solidFill>
                <a:latin typeface="Aptos Display"/>
              </a:defRPr>
            </a:pPr>
            <a:r>
              <a:rPr dirty="0"/>
              <a:t>Analysis </a:t>
            </a:r>
            <a:r>
              <a:rPr lang="en-US" dirty="0"/>
              <a:t>2</a:t>
            </a:r>
            <a:r>
              <a:rPr dirty="0"/>
              <a:t> </a:t>
            </a:r>
            <a:r>
              <a:rPr lang="en-US" dirty="0"/>
              <a:t>–</a:t>
            </a:r>
            <a:r>
              <a:rPr dirty="0"/>
              <a:t> Customer</a:t>
            </a:r>
            <a:r>
              <a:rPr lang="en-US" dirty="0"/>
              <a:t> </a:t>
            </a:r>
            <a:r>
              <a:rPr lang="en-US" dirty="0" err="1"/>
              <a:t>Behaviour</a:t>
            </a:r>
            <a:r>
              <a:rPr dirty="0"/>
              <a:t>, Purchase </a:t>
            </a:r>
            <a:r>
              <a:rPr lang="en-US" dirty="0"/>
              <a:t>Patterns</a:t>
            </a:r>
            <a:r>
              <a:rPr dirty="0"/>
              <a:t> &amp; Churn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6601968"/>
            <a:ext cx="2414444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8727C"/>
                </a:solidFill>
                <a:latin typeface="Aptos"/>
              </a:defRPr>
            </a:pPr>
            <a:r>
              <a:rPr lang="en-IN" dirty="0"/>
              <a:t>• Chinook Music Store • SQL Analysis &amp; Business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7453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27C"/>
                </a:solidFill>
                <a:latin typeface="Aptos"/>
              </a:defRPr>
            </a:pPr>
            <a:r>
              <a:t>7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63146AD-F975-9242-9E0D-50AF541959B5}"/>
              </a:ext>
            </a:extLst>
          </p:cNvPr>
          <p:cNvGrpSpPr/>
          <p:nvPr/>
        </p:nvGrpSpPr>
        <p:grpSpPr>
          <a:xfrm>
            <a:off x="530352" y="1140061"/>
            <a:ext cx="4615389" cy="4592780"/>
            <a:chOff x="530353" y="1239530"/>
            <a:chExt cx="5601245" cy="4592780"/>
          </a:xfrm>
        </p:grpSpPr>
        <p:sp>
          <p:nvSpPr>
            <p:cNvPr id="27" name="Shape 3">
              <a:extLst>
                <a:ext uri="{FF2B5EF4-FFF2-40B4-BE49-F238E27FC236}">
                  <a16:creationId xmlns:a16="http://schemas.microsoft.com/office/drawing/2014/main" id="{1B7BB9DF-87AA-264D-B583-247D17F4081E}"/>
                </a:ext>
              </a:extLst>
            </p:cNvPr>
            <p:cNvSpPr/>
            <p:nvPr/>
          </p:nvSpPr>
          <p:spPr>
            <a:xfrm>
              <a:off x="530354" y="1239530"/>
              <a:ext cx="5601244" cy="1028220"/>
            </a:xfrm>
            <a:prstGeom prst="roundRect">
              <a:avLst>
                <a:gd name="adj" fmla="val 7265"/>
              </a:avLst>
            </a:prstGeom>
            <a:solidFill>
              <a:schemeClr val="accent6"/>
            </a:solidFill>
            <a:ln w="6350">
              <a:solidFill>
                <a:srgbClr val="DFB8BC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Text 4">
              <a:extLst>
                <a:ext uri="{FF2B5EF4-FFF2-40B4-BE49-F238E27FC236}">
                  <a16:creationId xmlns:a16="http://schemas.microsoft.com/office/drawing/2014/main" id="{5F4A4C1D-E19E-B643-9478-271FDED22D52}"/>
                </a:ext>
              </a:extLst>
            </p:cNvPr>
            <p:cNvSpPr/>
            <p:nvPr/>
          </p:nvSpPr>
          <p:spPr>
            <a:xfrm>
              <a:off x="691724" y="1424258"/>
              <a:ext cx="4128125" cy="207408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>
                <a:defRPr sz="1250" b="1">
                  <a:solidFill>
                    <a:srgbClr val="182D49"/>
                  </a:solidFill>
                  <a:latin typeface="Aptos"/>
                </a:defRPr>
              </a:pPr>
              <a:r>
                <a:rPr lang="en-IN" dirty="0">
                  <a:solidFill>
                    <a:schemeClr val="bg1"/>
                  </a:solidFill>
                </a:rPr>
                <a:t>TOP CUSTOMER BY TOTAL REVENUE</a:t>
              </a:r>
            </a:p>
            <a:p>
              <a:pPr>
                <a:defRPr sz="1250" b="1">
                  <a:solidFill>
                    <a:srgbClr val="182D49"/>
                  </a:solidFill>
                  <a:latin typeface="Aptos"/>
                </a:defRPr>
              </a:pPr>
              <a:endParaRPr lang="en-IN" dirty="0">
                <a:solidFill>
                  <a:schemeClr val="bg1"/>
                </a:solidFill>
              </a:endParaRPr>
            </a:p>
            <a:p>
              <a:pPr>
                <a:defRPr sz="1250" b="1">
                  <a:solidFill>
                    <a:srgbClr val="182D49"/>
                  </a:solidFill>
                  <a:latin typeface="Aptos"/>
                </a:defRPr>
              </a:pP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29" name="Text 5">
              <a:extLst>
                <a:ext uri="{FF2B5EF4-FFF2-40B4-BE49-F238E27FC236}">
                  <a16:creationId xmlns:a16="http://schemas.microsoft.com/office/drawing/2014/main" id="{B7CB37E7-BA1B-244A-B870-3F8932F55686}"/>
                </a:ext>
              </a:extLst>
            </p:cNvPr>
            <p:cNvSpPr/>
            <p:nvPr/>
          </p:nvSpPr>
          <p:spPr>
            <a:xfrm>
              <a:off x="691723" y="1812718"/>
              <a:ext cx="5303121" cy="354368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>
                <a:defRPr sz="103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schemeClr val="bg1"/>
                  </a:solidFill>
                </a:rPr>
                <a:t>Frantisek Wichterlova is the top customer overall with $144.54 in total revenue.</a:t>
              </a:r>
            </a:p>
            <a:p>
              <a:pPr>
                <a:defRPr sz="1030">
                  <a:solidFill>
                    <a:srgbClr val="2B343E"/>
                  </a:solidFill>
                  <a:latin typeface="Aptos"/>
                </a:defRPr>
              </a:pPr>
              <a:endParaRPr lang="en-IN" sz="1050" dirty="0">
                <a:solidFill>
                  <a:schemeClr val="bg1"/>
                </a:solidFill>
              </a:endParaRPr>
            </a:p>
          </p:txBody>
        </p:sp>
        <p:sp>
          <p:nvSpPr>
            <p:cNvPr id="30" name="Shape 6">
              <a:extLst>
                <a:ext uri="{FF2B5EF4-FFF2-40B4-BE49-F238E27FC236}">
                  <a16:creationId xmlns:a16="http://schemas.microsoft.com/office/drawing/2014/main" id="{AD75B915-6A4C-8C47-91A4-2FC28253596B}"/>
                </a:ext>
              </a:extLst>
            </p:cNvPr>
            <p:cNvSpPr/>
            <p:nvPr/>
          </p:nvSpPr>
          <p:spPr>
            <a:xfrm>
              <a:off x="530354" y="2427718"/>
              <a:ext cx="5601244" cy="1028220"/>
            </a:xfrm>
            <a:prstGeom prst="roundRect">
              <a:avLst>
                <a:gd name="adj" fmla="val 7265"/>
              </a:avLst>
            </a:prstGeom>
            <a:solidFill>
              <a:schemeClr val="accent6"/>
            </a:solidFill>
            <a:ln w="6350">
              <a:solidFill>
                <a:srgbClr val="DFB8BC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Text 7">
              <a:extLst>
                <a:ext uri="{FF2B5EF4-FFF2-40B4-BE49-F238E27FC236}">
                  <a16:creationId xmlns:a16="http://schemas.microsoft.com/office/drawing/2014/main" id="{B150BF77-B29B-9942-9535-1653E1CDFA4C}"/>
                </a:ext>
              </a:extLst>
            </p:cNvPr>
            <p:cNvSpPr/>
            <p:nvPr/>
          </p:nvSpPr>
          <p:spPr>
            <a:xfrm>
              <a:off x="691726" y="2612445"/>
              <a:ext cx="3399192" cy="270304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>
                <a:defRPr sz="850" b="1">
                  <a:solidFill>
                    <a:srgbClr val="FFFFFF"/>
                  </a:solidFill>
                  <a:latin typeface="Aptos"/>
                </a:defRPr>
              </a:pPr>
              <a:r>
                <a:rPr lang="en-IN" sz="1250" dirty="0"/>
                <a:t>TOP-SELLING TRACK PER CUSTOMER</a:t>
              </a:r>
            </a:p>
            <a:p>
              <a:pPr>
                <a:defRPr sz="850" b="1">
                  <a:solidFill>
                    <a:srgbClr val="FFFFFF"/>
                  </a:solidFill>
                  <a:latin typeface="Aptos"/>
                </a:defRPr>
              </a:pPr>
              <a:endParaRPr lang="en-IN" sz="1250" dirty="0"/>
            </a:p>
          </p:txBody>
        </p:sp>
        <p:sp>
          <p:nvSpPr>
            <p:cNvPr id="32" name="Text 8">
              <a:extLst>
                <a:ext uri="{FF2B5EF4-FFF2-40B4-BE49-F238E27FC236}">
                  <a16:creationId xmlns:a16="http://schemas.microsoft.com/office/drawing/2014/main" id="{07DEA36B-BDB0-BD43-95B8-DD6C10BAB928}"/>
                </a:ext>
              </a:extLst>
            </p:cNvPr>
            <p:cNvSpPr/>
            <p:nvPr/>
          </p:nvSpPr>
          <p:spPr>
            <a:xfrm>
              <a:off x="691724" y="2965970"/>
              <a:ext cx="4917653" cy="310702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>
                <a:spcAft>
                  <a:spcPts val="500"/>
                </a:spcAft>
                <a:defRPr sz="105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schemeClr val="bg1"/>
                  </a:solidFill>
                </a:rPr>
                <a:t>Most customers top-selling tracks are priced at $0.99; a few are $1.98.</a:t>
              </a:r>
            </a:p>
          </p:txBody>
        </p:sp>
        <p:sp>
          <p:nvSpPr>
            <p:cNvPr id="33" name="Shape 9">
              <a:extLst>
                <a:ext uri="{FF2B5EF4-FFF2-40B4-BE49-F238E27FC236}">
                  <a16:creationId xmlns:a16="http://schemas.microsoft.com/office/drawing/2014/main" id="{7D8916E1-41E0-504A-8548-2BAF4C1D64DB}"/>
                </a:ext>
              </a:extLst>
            </p:cNvPr>
            <p:cNvSpPr/>
            <p:nvPr/>
          </p:nvSpPr>
          <p:spPr>
            <a:xfrm>
              <a:off x="530354" y="3615904"/>
              <a:ext cx="5601244" cy="1028220"/>
            </a:xfrm>
            <a:prstGeom prst="roundRect">
              <a:avLst>
                <a:gd name="adj" fmla="val 7265"/>
              </a:avLst>
            </a:prstGeom>
            <a:solidFill>
              <a:schemeClr val="accent6"/>
            </a:solidFill>
            <a:ln w="6350">
              <a:solidFill>
                <a:srgbClr val="DFB8BC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34" name="Text 10">
              <a:extLst>
                <a:ext uri="{FF2B5EF4-FFF2-40B4-BE49-F238E27FC236}">
                  <a16:creationId xmlns:a16="http://schemas.microsoft.com/office/drawing/2014/main" id="{9C2F0CB8-701C-4C41-92D2-28B7ECFA36D5}"/>
                </a:ext>
              </a:extLst>
            </p:cNvPr>
            <p:cNvSpPr/>
            <p:nvPr/>
          </p:nvSpPr>
          <p:spPr>
            <a:xfrm>
              <a:off x="691724" y="3800630"/>
              <a:ext cx="2197758" cy="334544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>
                <a:defRPr sz="850" b="1">
                  <a:solidFill>
                    <a:srgbClr val="FFFFFF"/>
                  </a:solidFill>
                  <a:latin typeface="Aptos"/>
                </a:defRPr>
              </a:pPr>
              <a:r>
                <a:rPr lang="en-IN" sz="1250" dirty="0"/>
                <a:t>PURCHASE BEHAVIOR</a:t>
              </a:r>
            </a:p>
            <a:p>
              <a:pPr>
                <a:defRPr sz="850" b="1">
                  <a:solidFill>
                    <a:srgbClr val="FFFFFF"/>
                  </a:solidFill>
                  <a:latin typeface="Aptos"/>
                </a:defRPr>
              </a:pPr>
              <a:endParaRPr lang="en-IN" sz="1250" dirty="0"/>
            </a:p>
          </p:txBody>
        </p:sp>
        <p:sp>
          <p:nvSpPr>
            <p:cNvPr id="35" name="Text 11">
              <a:extLst>
                <a:ext uri="{FF2B5EF4-FFF2-40B4-BE49-F238E27FC236}">
                  <a16:creationId xmlns:a16="http://schemas.microsoft.com/office/drawing/2014/main" id="{4CA283B9-2568-374D-A22E-E562A38ED492}"/>
                </a:ext>
              </a:extLst>
            </p:cNvPr>
            <p:cNvSpPr/>
            <p:nvPr/>
          </p:nvSpPr>
          <p:spPr>
            <a:xfrm>
              <a:off x="691724" y="4189091"/>
              <a:ext cx="5189644" cy="333364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>
                <a:defRPr sz="103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prstClr val="white"/>
                  </a:solidFill>
                  <a:latin typeface="Aptos"/>
                </a:rPr>
                <a:t>Most customers cluster around 8-13 purchases and $7-$9 average order value.</a:t>
              </a:r>
            </a:p>
          </p:txBody>
        </p:sp>
        <p:sp>
          <p:nvSpPr>
            <p:cNvPr id="36" name="Shape 12">
              <a:extLst>
                <a:ext uri="{FF2B5EF4-FFF2-40B4-BE49-F238E27FC236}">
                  <a16:creationId xmlns:a16="http://schemas.microsoft.com/office/drawing/2014/main" id="{6CCF25A2-AAAB-B648-91CB-4049D6FDDCD4}"/>
                </a:ext>
              </a:extLst>
            </p:cNvPr>
            <p:cNvSpPr/>
            <p:nvPr/>
          </p:nvSpPr>
          <p:spPr>
            <a:xfrm>
              <a:off x="530353" y="4804090"/>
              <a:ext cx="5601245" cy="1028220"/>
            </a:xfrm>
            <a:prstGeom prst="roundRect">
              <a:avLst>
                <a:gd name="adj" fmla="val 7265"/>
              </a:avLst>
            </a:prstGeom>
            <a:solidFill>
              <a:schemeClr val="accent6"/>
            </a:solidFill>
            <a:ln w="6350">
              <a:solidFill>
                <a:srgbClr val="DFB8BC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Text 13">
              <a:extLst>
                <a:ext uri="{FF2B5EF4-FFF2-40B4-BE49-F238E27FC236}">
                  <a16:creationId xmlns:a16="http://schemas.microsoft.com/office/drawing/2014/main" id="{95172B03-22A9-7F41-AE39-32B8D85CF652}"/>
                </a:ext>
              </a:extLst>
            </p:cNvPr>
            <p:cNvSpPr/>
            <p:nvPr/>
          </p:nvSpPr>
          <p:spPr>
            <a:xfrm>
              <a:off x="691727" y="4943993"/>
              <a:ext cx="1599379" cy="246424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>
                <a:defRPr sz="850" b="1">
                  <a:solidFill>
                    <a:srgbClr val="FFFFFF"/>
                  </a:solidFill>
                  <a:latin typeface="Aptos"/>
                </a:defRPr>
              </a:pPr>
              <a:r>
                <a:rPr lang="en-IN" sz="1250" dirty="0"/>
                <a:t>CHURN RATE</a:t>
              </a:r>
            </a:p>
          </p:txBody>
        </p:sp>
        <p:sp>
          <p:nvSpPr>
            <p:cNvPr id="38" name="Text 14">
              <a:extLst>
                <a:ext uri="{FF2B5EF4-FFF2-40B4-BE49-F238E27FC236}">
                  <a16:creationId xmlns:a16="http://schemas.microsoft.com/office/drawing/2014/main" id="{612D8A8D-A61F-7D4B-BBA4-30106191793D}"/>
                </a:ext>
              </a:extLst>
            </p:cNvPr>
            <p:cNvSpPr/>
            <p:nvPr/>
          </p:nvSpPr>
          <p:spPr>
            <a:xfrm>
              <a:off x="691723" y="5226426"/>
              <a:ext cx="3940510" cy="590832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>
                <a:spcAft>
                  <a:spcPts val="400"/>
                </a:spcAft>
                <a:defRPr sz="95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schemeClr val="bg1"/>
                  </a:solidFill>
                  <a:latin typeface="Aptos"/>
                  <a:ea typeface="+mn-ea"/>
                  <a:cs typeface="+mn-cs"/>
                </a:rPr>
                <a:t>2017: 7.02%  |  2018: 9.09%  |  2019: 1.85%.</a:t>
              </a:r>
            </a:p>
            <a:p>
              <a:pPr lvl="0">
                <a:spcAft>
                  <a:spcPts val="400"/>
                </a:spcAft>
                <a:defRPr sz="95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schemeClr val="bg1"/>
                  </a:solidFill>
                  <a:latin typeface="Aptos"/>
                  <a:ea typeface="+mn-ea"/>
                  <a:cs typeface="+mn-cs"/>
                </a:rPr>
                <a:t>2020 appears as 100% because the dataset ends in 2020,</a:t>
              </a:r>
            </a:p>
            <a:p>
              <a:pPr lvl="0">
                <a:spcAft>
                  <a:spcPts val="400"/>
                </a:spcAft>
                <a:defRPr sz="95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schemeClr val="bg1"/>
                  </a:solidFill>
                  <a:latin typeface="Aptos"/>
                  <a:ea typeface="+mn-ea"/>
                  <a:cs typeface="+mn-cs"/>
                </a:rPr>
                <a:t>it is a data limitation, not a normal churn observation.</a:t>
              </a:r>
            </a:p>
            <a:p>
              <a:pPr lvl="0">
                <a:spcAft>
                  <a:spcPts val="500"/>
                </a:spcAft>
                <a:defRPr sz="950">
                  <a:solidFill>
                    <a:srgbClr val="2B343E"/>
                  </a:solidFill>
                  <a:latin typeface="Aptos"/>
                </a:defRPr>
              </a:pPr>
              <a:endParaRPr lang="en-IN" sz="1050" dirty="0">
                <a:solidFill>
                  <a:schemeClr val="bg1"/>
                </a:solidFill>
                <a:latin typeface="Aptos"/>
                <a:ea typeface="+mn-ea"/>
                <a:cs typeface="+mn-cs"/>
              </a:endParaRP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41B7CAB9-D1C2-FF4B-B273-044A8AA94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9505" y="1140061"/>
            <a:ext cx="6490449" cy="456675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727141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9"/>
                </a:solidFill>
                <a:latin typeface="Aptos Display"/>
              </a:defRPr>
            </a:pPr>
            <a:r>
              <a:rPr dirty="0"/>
              <a:t>Analysis </a:t>
            </a:r>
            <a:r>
              <a:rPr lang="en-US" dirty="0"/>
              <a:t>3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Genre </a:t>
            </a:r>
            <a:r>
              <a:rPr lang="en-US" dirty="0"/>
              <a:t>Performance</a:t>
            </a:r>
            <a:r>
              <a:rPr dirty="0"/>
              <a:t>, Diversity &amp; Inactivity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6601968"/>
            <a:ext cx="2414444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8727C"/>
                </a:solidFill>
                <a:latin typeface="Aptos"/>
              </a:defRPr>
            </a:pPr>
            <a:r>
              <a:rPr lang="en-IN" dirty="0"/>
              <a:t>• Chinook Music Store • SQL Analysis &amp; Business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7453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27C"/>
                </a:solidFill>
                <a:latin typeface="Aptos"/>
              </a:defRPr>
            </a:pPr>
            <a:r>
              <a:t>8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ABD3470-716E-E24C-9322-7DB0CFB97D1E}"/>
              </a:ext>
            </a:extLst>
          </p:cNvPr>
          <p:cNvGrpSpPr/>
          <p:nvPr/>
        </p:nvGrpSpPr>
        <p:grpSpPr>
          <a:xfrm>
            <a:off x="610206" y="1132610"/>
            <a:ext cx="4787508" cy="4592780"/>
            <a:chOff x="530353" y="1239530"/>
            <a:chExt cx="5601245" cy="4592780"/>
          </a:xfrm>
        </p:grpSpPr>
        <p:sp>
          <p:nvSpPr>
            <p:cNvPr id="26" name="Shape 3">
              <a:extLst>
                <a:ext uri="{FF2B5EF4-FFF2-40B4-BE49-F238E27FC236}">
                  <a16:creationId xmlns:a16="http://schemas.microsoft.com/office/drawing/2014/main" id="{5EDE13EB-E2B1-BC42-ABBA-7A21F76CEF4D}"/>
                </a:ext>
              </a:extLst>
            </p:cNvPr>
            <p:cNvSpPr/>
            <p:nvPr/>
          </p:nvSpPr>
          <p:spPr>
            <a:xfrm>
              <a:off x="530354" y="1239530"/>
              <a:ext cx="5601244" cy="1028220"/>
            </a:xfrm>
            <a:prstGeom prst="roundRect">
              <a:avLst>
                <a:gd name="adj" fmla="val 7265"/>
              </a:avLst>
            </a:prstGeom>
            <a:solidFill>
              <a:schemeClr val="accent6"/>
            </a:solidFill>
            <a:ln w="6350">
              <a:solidFill>
                <a:srgbClr val="DFB8BC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Text 4">
              <a:extLst>
                <a:ext uri="{FF2B5EF4-FFF2-40B4-BE49-F238E27FC236}">
                  <a16:creationId xmlns:a16="http://schemas.microsoft.com/office/drawing/2014/main" id="{F54191CB-AB5F-9341-BE1C-39EF7CE85DC1}"/>
                </a:ext>
              </a:extLst>
            </p:cNvPr>
            <p:cNvSpPr/>
            <p:nvPr/>
          </p:nvSpPr>
          <p:spPr>
            <a:xfrm>
              <a:off x="691724" y="1424258"/>
              <a:ext cx="2830764" cy="207408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>
                <a:defRPr sz="1250" b="1">
                  <a:solidFill>
                    <a:srgbClr val="182D49"/>
                  </a:solidFill>
                  <a:latin typeface="Aptos"/>
                </a:defRPr>
              </a:pPr>
              <a:r>
                <a:rPr lang="en-IN" dirty="0">
                  <a:solidFill>
                    <a:schemeClr val="bg1"/>
                  </a:solidFill>
                </a:rPr>
                <a:t>USA GENRE CONTRIBUTION</a:t>
              </a:r>
            </a:p>
          </p:txBody>
        </p:sp>
        <p:sp>
          <p:nvSpPr>
            <p:cNvPr id="28" name="Text 5">
              <a:extLst>
                <a:ext uri="{FF2B5EF4-FFF2-40B4-BE49-F238E27FC236}">
                  <a16:creationId xmlns:a16="http://schemas.microsoft.com/office/drawing/2014/main" id="{2F0C1BFF-BB78-1140-BCD8-9CA6AC61BE30}"/>
                </a:ext>
              </a:extLst>
            </p:cNvPr>
            <p:cNvSpPr/>
            <p:nvPr/>
          </p:nvSpPr>
          <p:spPr>
            <a:xfrm>
              <a:off x="691724" y="1812718"/>
              <a:ext cx="3940510" cy="354368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>
                <a:defRPr sz="103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schemeClr val="bg1"/>
                  </a:solidFill>
                </a:rPr>
                <a:t>Rock contributes 53.4% of USA sales ($555.39),</a:t>
              </a:r>
            </a:p>
            <a:p>
              <a:pPr>
                <a:defRPr sz="103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schemeClr val="bg1"/>
                  </a:solidFill>
                </a:rPr>
                <a:t>followed by Alternative &amp; Punk (12.4%) and Metal (11.8%)</a:t>
              </a:r>
            </a:p>
            <a:p>
              <a:pPr>
                <a:defRPr sz="1030">
                  <a:solidFill>
                    <a:srgbClr val="2B343E"/>
                  </a:solidFill>
                  <a:latin typeface="Aptos"/>
                </a:defRPr>
              </a:pPr>
              <a:endParaRPr lang="en-IN" sz="1050" dirty="0">
                <a:solidFill>
                  <a:schemeClr val="bg1"/>
                </a:solidFill>
              </a:endParaRPr>
            </a:p>
          </p:txBody>
        </p:sp>
        <p:sp>
          <p:nvSpPr>
            <p:cNvPr id="29" name="Shape 6">
              <a:extLst>
                <a:ext uri="{FF2B5EF4-FFF2-40B4-BE49-F238E27FC236}">
                  <a16:creationId xmlns:a16="http://schemas.microsoft.com/office/drawing/2014/main" id="{62B9C9FA-7528-B74B-9217-88B8E9607B4E}"/>
                </a:ext>
              </a:extLst>
            </p:cNvPr>
            <p:cNvSpPr/>
            <p:nvPr/>
          </p:nvSpPr>
          <p:spPr>
            <a:xfrm>
              <a:off x="530354" y="2427718"/>
              <a:ext cx="5601244" cy="1028220"/>
            </a:xfrm>
            <a:prstGeom prst="roundRect">
              <a:avLst>
                <a:gd name="adj" fmla="val 7265"/>
              </a:avLst>
            </a:prstGeom>
            <a:solidFill>
              <a:schemeClr val="accent6"/>
            </a:solidFill>
            <a:ln w="6350">
              <a:solidFill>
                <a:srgbClr val="DFB8BC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Text 7">
              <a:extLst>
                <a:ext uri="{FF2B5EF4-FFF2-40B4-BE49-F238E27FC236}">
                  <a16:creationId xmlns:a16="http://schemas.microsoft.com/office/drawing/2014/main" id="{7855E1FC-C092-D94E-B8C2-B7CAA021A55C}"/>
                </a:ext>
              </a:extLst>
            </p:cNvPr>
            <p:cNvSpPr/>
            <p:nvPr/>
          </p:nvSpPr>
          <p:spPr>
            <a:xfrm>
              <a:off x="691726" y="2612445"/>
              <a:ext cx="2197757" cy="270304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>
                <a:defRPr sz="850" b="1">
                  <a:solidFill>
                    <a:srgbClr val="FFFFFF"/>
                  </a:solidFill>
                  <a:latin typeface="Aptos"/>
                </a:defRPr>
              </a:pPr>
              <a:r>
                <a:rPr lang="en-IN" sz="1250" dirty="0"/>
                <a:t>GENRE DIVERSITY</a:t>
              </a:r>
            </a:p>
          </p:txBody>
        </p:sp>
        <p:sp>
          <p:nvSpPr>
            <p:cNvPr id="31" name="Text 8">
              <a:extLst>
                <a:ext uri="{FF2B5EF4-FFF2-40B4-BE49-F238E27FC236}">
                  <a16:creationId xmlns:a16="http://schemas.microsoft.com/office/drawing/2014/main" id="{2B9C628A-1656-AB4B-8C6D-55FF09CF3E42}"/>
                </a:ext>
              </a:extLst>
            </p:cNvPr>
            <p:cNvSpPr/>
            <p:nvPr/>
          </p:nvSpPr>
          <p:spPr>
            <a:xfrm>
              <a:off x="691724" y="2965969"/>
              <a:ext cx="4659628" cy="448383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>
                <a:spcAft>
                  <a:spcPts val="500"/>
                </a:spcAft>
                <a:defRPr sz="105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schemeClr val="bg1"/>
                  </a:solidFill>
                </a:rPr>
                <a:t>Leonie Kohler purchased from 14 genres - the highest in the result.</a:t>
              </a:r>
            </a:p>
            <a:p>
              <a:pPr>
                <a:spcAft>
                  <a:spcPts val="500"/>
                </a:spcAft>
                <a:defRPr sz="105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schemeClr val="bg1"/>
                  </a:solidFill>
                </a:rPr>
                <a:t>All returned customers bought from at least 5 genres.</a:t>
              </a:r>
            </a:p>
            <a:p>
              <a:pPr>
                <a:spcAft>
                  <a:spcPts val="500"/>
                </a:spcAft>
                <a:defRPr sz="1050">
                  <a:solidFill>
                    <a:srgbClr val="2B343E"/>
                  </a:solidFill>
                  <a:latin typeface="Aptos"/>
                </a:defRPr>
              </a:pPr>
              <a:endParaRPr lang="en-IN" sz="1050" dirty="0">
                <a:solidFill>
                  <a:schemeClr val="bg1"/>
                </a:solidFill>
              </a:endParaRPr>
            </a:p>
          </p:txBody>
        </p:sp>
        <p:sp>
          <p:nvSpPr>
            <p:cNvPr id="32" name="Shape 9">
              <a:extLst>
                <a:ext uri="{FF2B5EF4-FFF2-40B4-BE49-F238E27FC236}">
                  <a16:creationId xmlns:a16="http://schemas.microsoft.com/office/drawing/2014/main" id="{9E96C524-0AD0-C741-B2A9-6EB8005BD88B}"/>
                </a:ext>
              </a:extLst>
            </p:cNvPr>
            <p:cNvSpPr/>
            <p:nvPr/>
          </p:nvSpPr>
          <p:spPr>
            <a:xfrm>
              <a:off x="530354" y="3615904"/>
              <a:ext cx="5601244" cy="1028220"/>
            </a:xfrm>
            <a:prstGeom prst="roundRect">
              <a:avLst>
                <a:gd name="adj" fmla="val 7265"/>
              </a:avLst>
            </a:prstGeom>
            <a:solidFill>
              <a:schemeClr val="accent6"/>
            </a:solidFill>
            <a:ln w="6350">
              <a:solidFill>
                <a:srgbClr val="DFB8BC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33" name="Text 10">
              <a:extLst>
                <a:ext uri="{FF2B5EF4-FFF2-40B4-BE49-F238E27FC236}">
                  <a16:creationId xmlns:a16="http://schemas.microsoft.com/office/drawing/2014/main" id="{35B9DA89-5610-AB41-B172-4C6E5014547B}"/>
                </a:ext>
              </a:extLst>
            </p:cNvPr>
            <p:cNvSpPr/>
            <p:nvPr/>
          </p:nvSpPr>
          <p:spPr>
            <a:xfrm>
              <a:off x="691724" y="3800630"/>
              <a:ext cx="2197758" cy="266792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>
                <a:defRPr sz="850" b="1">
                  <a:solidFill>
                    <a:srgbClr val="FFFFFF"/>
                  </a:solidFill>
                  <a:latin typeface="Aptos"/>
                </a:defRPr>
              </a:pPr>
              <a:r>
                <a:rPr lang="en-IN" sz="1250" dirty="0"/>
                <a:t>GENRE RANKING</a:t>
              </a:r>
            </a:p>
          </p:txBody>
        </p:sp>
        <p:sp>
          <p:nvSpPr>
            <p:cNvPr id="34" name="Text 11">
              <a:extLst>
                <a:ext uri="{FF2B5EF4-FFF2-40B4-BE49-F238E27FC236}">
                  <a16:creationId xmlns:a16="http://schemas.microsoft.com/office/drawing/2014/main" id="{BCD38684-0409-6E4D-8AA0-7765BF2DC9A0}"/>
                </a:ext>
              </a:extLst>
            </p:cNvPr>
            <p:cNvSpPr/>
            <p:nvPr/>
          </p:nvSpPr>
          <p:spPr>
            <a:xfrm>
              <a:off x="691724" y="4117370"/>
              <a:ext cx="5189643" cy="476945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>
                <a:defRPr sz="103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prstClr val="white"/>
                  </a:solidFill>
                  <a:latin typeface="Aptos"/>
                </a:rPr>
                <a:t>Rock ranks #1 with $555.39 - nearly 4× Alternative &amp; Punk.</a:t>
              </a:r>
            </a:p>
            <a:p>
              <a:pPr lvl="0">
                <a:defRPr sz="103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prstClr val="white"/>
                  </a:solidFill>
                  <a:latin typeface="Aptos"/>
                </a:rPr>
                <a:t>Latin and Pop tie at rank 7.</a:t>
              </a:r>
            </a:p>
            <a:p>
              <a:pPr lvl="0">
                <a:defRPr sz="103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prstClr val="white"/>
                  </a:solidFill>
                  <a:latin typeface="Aptos"/>
                </a:rPr>
                <a:t>TV Shows ranks last with $0.99.</a:t>
              </a:r>
            </a:p>
            <a:p>
              <a:pPr lvl="0">
                <a:defRPr sz="1030">
                  <a:solidFill>
                    <a:srgbClr val="2B343E"/>
                  </a:solidFill>
                  <a:latin typeface="Aptos"/>
                </a:defRPr>
              </a:pPr>
              <a:endParaRPr lang="en-IN" sz="1050" dirty="0">
                <a:solidFill>
                  <a:prstClr val="white"/>
                </a:solidFill>
                <a:latin typeface="Aptos"/>
              </a:endParaRPr>
            </a:p>
          </p:txBody>
        </p:sp>
        <p:sp>
          <p:nvSpPr>
            <p:cNvPr id="35" name="Shape 12">
              <a:extLst>
                <a:ext uri="{FF2B5EF4-FFF2-40B4-BE49-F238E27FC236}">
                  <a16:creationId xmlns:a16="http://schemas.microsoft.com/office/drawing/2014/main" id="{DBCA9FA9-C2C2-4B4A-A4B7-E74647C070FA}"/>
                </a:ext>
              </a:extLst>
            </p:cNvPr>
            <p:cNvSpPr/>
            <p:nvPr/>
          </p:nvSpPr>
          <p:spPr>
            <a:xfrm>
              <a:off x="530353" y="4804090"/>
              <a:ext cx="5601245" cy="1028220"/>
            </a:xfrm>
            <a:prstGeom prst="roundRect">
              <a:avLst>
                <a:gd name="adj" fmla="val 7265"/>
              </a:avLst>
            </a:prstGeom>
            <a:solidFill>
              <a:schemeClr val="accent6"/>
            </a:solidFill>
            <a:ln w="6350">
              <a:solidFill>
                <a:srgbClr val="DFB8BC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Text 13">
              <a:extLst>
                <a:ext uri="{FF2B5EF4-FFF2-40B4-BE49-F238E27FC236}">
                  <a16:creationId xmlns:a16="http://schemas.microsoft.com/office/drawing/2014/main" id="{BBFA6760-442E-764A-8886-AD6ADD006979}"/>
                </a:ext>
              </a:extLst>
            </p:cNvPr>
            <p:cNvSpPr/>
            <p:nvPr/>
          </p:nvSpPr>
          <p:spPr>
            <a:xfrm>
              <a:off x="691727" y="4935028"/>
              <a:ext cx="2383713" cy="246424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>
                <a:defRPr sz="850" b="1">
                  <a:solidFill>
                    <a:srgbClr val="FFFFFF"/>
                  </a:solidFill>
                  <a:latin typeface="Aptos"/>
                </a:defRPr>
              </a:pPr>
              <a:r>
                <a:rPr lang="en-IN" sz="1250" dirty="0"/>
                <a:t>INACTIVE CUSTOMERS</a:t>
              </a:r>
            </a:p>
            <a:p>
              <a:pPr>
                <a:defRPr sz="850" b="1">
                  <a:solidFill>
                    <a:srgbClr val="FFFFFF"/>
                  </a:solidFill>
                  <a:latin typeface="Aptos"/>
                </a:defRPr>
              </a:pPr>
              <a:endParaRPr lang="en-IN" sz="1250" dirty="0"/>
            </a:p>
          </p:txBody>
        </p:sp>
        <p:sp>
          <p:nvSpPr>
            <p:cNvPr id="37" name="Text 14">
              <a:extLst>
                <a:ext uri="{FF2B5EF4-FFF2-40B4-BE49-F238E27FC236}">
                  <a16:creationId xmlns:a16="http://schemas.microsoft.com/office/drawing/2014/main" id="{BF43562A-5A67-D04F-A1E5-580306B7CE6C}"/>
                </a:ext>
              </a:extLst>
            </p:cNvPr>
            <p:cNvSpPr/>
            <p:nvPr/>
          </p:nvSpPr>
          <p:spPr>
            <a:xfrm>
              <a:off x="691724" y="5226426"/>
              <a:ext cx="3613760" cy="590832"/>
            </a:xfrm>
            <a:prstGeom prst="rect">
              <a:avLst/>
            </a:prstGeom>
            <a:noFill/>
            <a:ln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ajor"/>
          </p:style>
          <p:txBody>
            <a:bodyPr wrap="none" lIns="0" tIns="0" rIns="0" bIns="0" rtlCol="0" anchor="t"/>
            <a:lstStyle>
              <a:lvl1pPr>
                <a:defRPr>
                  <a:latin typeface="+mj-lt"/>
                  <a:ea typeface="+mj-ea"/>
                  <a:cs typeface="+mj-cs"/>
                </a:defRPr>
              </a:lvl1pPr>
              <a:lvl2pPr>
                <a:defRPr>
                  <a:latin typeface="+mj-lt"/>
                  <a:ea typeface="+mj-ea"/>
                  <a:cs typeface="+mj-cs"/>
                </a:defRPr>
              </a:lvl2pPr>
              <a:lvl3pPr>
                <a:defRPr>
                  <a:latin typeface="+mj-lt"/>
                  <a:ea typeface="+mj-ea"/>
                  <a:cs typeface="+mj-cs"/>
                </a:defRPr>
              </a:lvl3pPr>
              <a:lvl4pPr>
                <a:defRPr>
                  <a:latin typeface="+mj-lt"/>
                  <a:ea typeface="+mj-ea"/>
                  <a:cs typeface="+mj-cs"/>
                </a:defRPr>
              </a:lvl4pPr>
              <a:lvl5pPr>
                <a:defRPr>
                  <a:latin typeface="+mj-lt"/>
                  <a:ea typeface="+mj-ea"/>
                  <a:cs typeface="+mj-cs"/>
                </a:defRPr>
              </a:lvl5pPr>
              <a:lvl6pPr>
                <a:defRPr>
                  <a:latin typeface="+mj-lt"/>
                  <a:ea typeface="+mj-ea"/>
                  <a:cs typeface="+mj-cs"/>
                </a:defRPr>
              </a:lvl6pPr>
              <a:lvl7pPr>
                <a:defRPr>
                  <a:latin typeface="+mj-lt"/>
                  <a:ea typeface="+mj-ea"/>
                  <a:cs typeface="+mj-cs"/>
                </a:defRPr>
              </a:lvl7pPr>
              <a:lvl8pPr>
                <a:defRPr>
                  <a:latin typeface="+mj-lt"/>
                  <a:ea typeface="+mj-ea"/>
                  <a:cs typeface="+mj-cs"/>
                </a:defRPr>
              </a:lvl8pPr>
              <a:lvl9pPr>
                <a:defRPr>
                  <a:latin typeface="+mj-lt"/>
                  <a:ea typeface="+mj-ea"/>
                  <a:cs typeface="+mj-cs"/>
                </a:defRPr>
              </a:lvl9pPr>
            </a:lstStyle>
            <a:p>
              <a:pPr lvl="0">
                <a:spcAft>
                  <a:spcPts val="400"/>
                </a:spcAft>
                <a:defRPr sz="95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schemeClr val="bg1"/>
                  </a:solidFill>
                  <a:latin typeface="Aptos"/>
                  <a:ea typeface="+mn-ea"/>
                  <a:cs typeface="+mn-cs"/>
                </a:rPr>
                <a:t>22 customers had no purchase in the last 3 months.</a:t>
              </a:r>
            </a:p>
            <a:p>
              <a:pPr lvl="0">
                <a:spcAft>
                  <a:spcPts val="400"/>
                </a:spcAft>
                <a:defRPr sz="95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schemeClr val="bg1"/>
                  </a:solidFill>
                  <a:latin typeface="Aptos"/>
                  <a:ea typeface="+mn-ea"/>
                  <a:cs typeface="+mn-cs"/>
                </a:rPr>
                <a:t>Daan Peeters has the longest inactivity gap, </a:t>
              </a:r>
            </a:p>
            <a:p>
              <a:pPr lvl="0">
                <a:spcAft>
                  <a:spcPts val="400"/>
                </a:spcAft>
                <a:defRPr sz="950">
                  <a:solidFill>
                    <a:srgbClr val="2B343E"/>
                  </a:solidFill>
                  <a:latin typeface="Aptos"/>
                </a:defRPr>
              </a:pPr>
              <a:r>
                <a:rPr lang="en-IN" sz="1050" dirty="0">
                  <a:solidFill>
                    <a:schemeClr val="bg1"/>
                  </a:solidFill>
                  <a:latin typeface="Aptos"/>
                  <a:ea typeface="+mn-ea"/>
                  <a:cs typeface="+mn-cs"/>
                </a:rPr>
                <a:t>Fynn Zimmermann is the most recently inactive.</a:t>
              </a:r>
            </a:p>
            <a:p>
              <a:pPr lvl="0">
                <a:spcAft>
                  <a:spcPts val="400"/>
                </a:spcAft>
                <a:defRPr sz="950">
                  <a:solidFill>
                    <a:srgbClr val="2B343E"/>
                  </a:solidFill>
                  <a:latin typeface="Aptos"/>
                </a:defRPr>
              </a:pPr>
              <a:endParaRPr lang="en-IN" sz="1050" dirty="0">
                <a:solidFill>
                  <a:schemeClr val="bg1"/>
                </a:solidFill>
                <a:latin typeface="Aptos"/>
                <a:ea typeface="+mn-ea"/>
                <a:cs typeface="+mn-cs"/>
              </a:endParaRPr>
            </a:p>
          </p:txBody>
        </p: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C54CDC7B-3210-7A45-B0EE-D1EBD52C2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635" y="1132610"/>
            <a:ext cx="5925671" cy="457772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774147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9"/>
                </a:solidFill>
                <a:latin typeface="Aptos Display"/>
              </a:defRPr>
            </a:pPr>
            <a:r>
              <a:rPr dirty="0"/>
              <a:t>Analysis </a:t>
            </a:r>
            <a:r>
              <a:rPr lang="en-US" dirty="0"/>
              <a:t>4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Promotion, Global Genres &amp; Product Affinity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361688"/>
            <a:ext cx="140817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dirty="0"/>
              <a:t>Q3 • CUSTOMER BEHAVIOR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6601968"/>
            <a:ext cx="2414444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8727C"/>
                </a:solidFill>
                <a:latin typeface="Aptos"/>
              </a:defRPr>
            </a:pPr>
            <a:r>
              <a:rPr lang="en-IN" dirty="0"/>
              <a:t>• Chinook Music Store • SQL Analysis &amp; Business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7453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27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91498C1-3CE9-5141-B9D5-7E8C408BC498}"/>
              </a:ext>
            </a:extLst>
          </p:cNvPr>
          <p:cNvSpPr/>
          <p:nvPr/>
        </p:nvSpPr>
        <p:spPr>
          <a:xfrm>
            <a:off x="525682" y="1017587"/>
            <a:ext cx="4590741" cy="1595628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BEE515-0F63-874A-AB9C-BCADDE02A0A3}"/>
              </a:ext>
            </a:extLst>
          </p:cNvPr>
          <p:cNvSpPr/>
          <p:nvPr/>
        </p:nvSpPr>
        <p:spPr>
          <a:xfrm>
            <a:off x="525682" y="1017587"/>
            <a:ext cx="54864" cy="1595628"/>
          </a:xfrm>
          <a:prstGeom prst="rect">
            <a:avLst/>
          </a:prstGeom>
          <a:solidFill>
            <a:srgbClr val="EF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86E6C90-AD3B-C147-BD8E-4C4FD18E563C}"/>
              </a:ext>
            </a:extLst>
          </p:cNvPr>
          <p:cNvSpPr/>
          <p:nvPr/>
        </p:nvSpPr>
        <p:spPr>
          <a:xfrm>
            <a:off x="5831927" y="1017587"/>
            <a:ext cx="5577840" cy="3822417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675FDA-8896-2B4F-B9FC-AA7098BC8727}"/>
              </a:ext>
            </a:extLst>
          </p:cNvPr>
          <p:cNvSpPr txBox="1"/>
          <p:nvPr/>
        </p:nvSpPr>
        <p:spPr>
          <a:xfrm>
            <a:off x="6106247" y="1263127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9375B"/>
                </a:solidFill>
                <a:latin typeface="Aptos"/>
              </a:rPr>
              <a:t>Global Genre Reach &amp; Product Affinity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475" y="1453337"/>
            <a:ext cx="4326017" cy="93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B343E"/>
                </a:solidFill>
                <a:latin typeface="Aptos"/>
              </a:defRPr>
            </a:pPr>
            <a:r>
              <a:rPr dirty="0"/>
              <a:t>• Rock: From The Muddy Banks Of The Wishkah [live] </a:t>
            </a:r>
            <a:r>
              <a:rPr lang="en-US" dirty="0"/>
              <a:t>-</a:t>
            </a:r>
            <a:r>
              <a:rPr dirty="0"/>
              <a:t> Nirvana </a:t>
            </a:r>
            <a:r>
              <a:rPr lang="en-US" dirty="0"/>
              <a:t>-</a:t>
            </a:r>
            <a:r>
              <a:rPr dirty="0"/>
              <a:t> $27.72.</a:t>
            </a:r>
          </a:p>
          <a:p>
            <a:pPr>
              <a:spcAft>
                <a:spcPts val="500"/>
              </a:spcAft>
              <a:defRPr sz="1050">
                <a:solidFill>
                  <a:srgbClr val="2B343E"/>
                </a:solidFill>
                <a:latin typeface="Aptos"/>
              </a:defRPr>
            </a:pPr>
            <a:r>
              <a:rPr dirty="0"/>
              <a:t>• Alternative &amp; Punk: Green </a:t>
            </a:r>
            <a:r>
              <a:rPr lang="en-US" dirty="0"/>
              <a:t>-</a:t>
            </a:r>
            <a:r>
              <a:rPr dirty="0"/>
              <a:t> R.E.M. </a:t>
            </a:r>
            <a:r>
              <a:rPr lang="en-US" dirty="0"/>
              <a:t>-</a:t>
            </a:r>
            <a:r>
              <a:rPr dirty="0"/>
              <a:t> $24.75.</a:t>
            </a:r>
          </a:p>
          <a:p>
            <a:pPr>
              <a:spcAft>
                <a:spcPts val="500"/>
              </a:spcAft>
              <a:defRPr sz="1050">
                <a:solidFill>
                  <a:srgbClr val="2B343E"/>
                </a:solidFill>
                <a:latin typeface="Aptos"/>
              </a:defRPr>
            </a:pPr>
            <a:r>
              <a:rPr dirty="0"/>
              <a:t>• Metal: Mezmerize </a:t>
            </a:r>
            <a:r>
              <a:rPr lang="en-US" dirty="0"/>
              <a:t>-</a:t>
            </a:r>
            <a:r>
              <a:rPr dirty="0"/>
              <a:t> System Of A Down </a:t>
            </a:r>
            <a:r>
              <a:rPr lang="en-US" dirty="0"/>
              <a:t>-</a:t>
            </a:r>
            <a:r>
              <a:rPr dirty="0"/>
              <a:t> $21.78.</a:t>
            </a:r>
          </a:p>
          <a:p>
            <a:pPr>
              <a:spcAft>
                <a:spcPts val="500"/>
              </a:spcAft>
              <a:defRPr sz="1050">
                <a:solidFill>
                  <a:srgbClr val="2B343E"/>
                </a:solidFill>
                <a:latin typeface="Aptos"/>
              </a:defRPr>
            </a:pPr>
            <a:r>
              <a:rPr dirty="0"/>
              <a:t>• Using one album from each top genre broadens campaign reach.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2720" y="1123596"/>
            <a:ext cx="1932215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sz="1250" dirty="0">
                <a:solidFill>
                  <a:schemeClr val="accent6"/>
                </a:solidFill>
              </a:rPr>
              <a:t> USA ALBUM PROMOTION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533D4EE-7157-324C-9C16-279CE43503C6}"/>
              </a:ext>
            </a:extLst>
          </p:cNvPr>
          <p:cNvSpPr/>
          <p:nvPr/>
        </p:nvSpPr>
        <p:spPr>
          <a:xfrm>
            <a:off x="532720" y="3244376"/>
            <a:ext cx="4590741" cy="1595628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BC72BEA-1DB4-B34C-8900-2FA9D0BEC471}"/>
              </a:ext>
            </a:extLst>
          </p:cNvPr>
          <p:cNvSpPr/>
          <p:nvPr/>
        </p:nvSpPr>
        <p:spPr>
          <a:xfrm>
            <a:off x="532720" y="3244376"/>
            <a:ext cx="54864" cy="1595628"/>
          </a:xfrm>
          <a:prstGeom prst="rect">
            <a:avLst/>
          </a:prstGeom>
          <a:solidFill>
            <a:srgbClr val="EF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18A69F-5537-BE4D-9C1D-DA38A684652C}"/>
              </a:ext>
            </a:extLst>
          </p:cNvPr>
          <p:cNvSpPr txBox="1"/>
          <p:nvPr/>
        </p:nvSpPr>
        <p:spPr>
          <a:xfrm>
            <a:off x="669725" y="3367841"/>
            <a:ext cx="1959749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Aptos"/>
              </a:defRPr>
            </a:pPr>
            <a:r>
              <a:rPr lang="en-IN" sz="1250" dirty="0">
                <a:solidFill>
                  <a:schemeClr val="accent6"/>
                </a:solidFill>
              </a:rPr>
              <a:t> CUSTOMER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550" y="3722209"/>
            <a:ext cx="3736611" cy="659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2B343E"/>
                </a:solidFill>
                <a:latin typeface="Aptos"/>
              </a:defRPr>
            </a:pPr>
            <a:r>
              <a:rPr dirty="0"/>
              <a:t>• All 59 customers are classified as Long-Term in this dataset.</a:t>
            </a:r>
          </a:p>
          <a:p>
            <a:pPr>
              <a:spcAft>
                <a:spcPts val="500"/>
              </a:spcAft>
              <a:defRPr sz="950">
                <a:solidFill>
                  <a:srgbClr val="2B343E"/>
                </a:solidFill>
                <a:latin typeface="Aptos"/>
              </a:defRPr>
            </a:pPr>
            <a:r>
              <a:rPr dirty="0"/>
              <a:t>• Average purchase frequency = 10.41; average order value = $9.77.</a:t>
            </a:r>
          </a:p>
          <a:p>
            <a:pPr>
              <a:spcAft>
                <a:spcPts val="500"/>
              </a:spcAft>
              <a:defRPr sz="950">
                <a:solidFill>
                  <a:srgbClr val="2B343E"/>
                </a:solidFill>
                <a:latin typeface="Aptos"/>
              </a:defRPr>
            </a:pPr>
            <a:r>
              <a:rPr dirty="0"/>
              <a:t>• Average total spending per customer = $805.14.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47B3C3-8519-074D-A4FA-A4C9C69CF1E5}"/>
              </a:ext>
            </a:extLst>
          </p:cNvPr>
          <p:cNvSpPr txBox="1"/>
          <p:nvPr/>
        </p:nvSpPr>
        <p:spPr>
          <a:xfrm>
            <a:off x="6246989" y="1731354"/>
            <a:ext cx="2217351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Aptos"/>
              </a:defRPr>
            </a:pPr>
            <a:r>
              <a:rPr lang="en-IN" sz="1250" dirty="0">
                <a:solidFill>
                  <a:schemeClr val="accent6"/>
                </a:solidFill>
              </a:rPr>
              <a:t>TOP GENRES OUTSIDE USA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9099" y="2023546"/>
            <a:ext cx="4689251" cy="705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B343E"/>
                </a:solidFill>
                <a:latin typeface="Aptos"/>
              </a:defRPr>
            </a:pPr>
            <a:r>
              <a:rPr dirty="0"/>
              <a:t>• Rock is #1 in 22 of 23 non-USA countries.</a:t>
            </a:r>
          </a:p>
          <a:p>
            <a:pPr>
              <a:spcAft>
                <a:spcPts val="500"/>
              </a:spcAft>
              <a:defRPr sz="1050">
                <a:solidFill>
                  <a:srgbClr val="2B343E"/>
                </a:solidFill>
                <a:latin typeface="Aptos"/>
              </a:defRPr>
            </a:pPr>
            <a:r>
              <a:rPr dirty="0"/>
              <a:t>• Argentina is the exception: </a:t>
            </a:r>
            <a:r>
              <a:rPr lang="en-IN" sz="1050" dirty="0"/>
              <a:t>Alternative &amp; Punk ($16.83) leads over Rock ($10.89) </a:t>
            </a:r>
          </a:p>
          <a:p>
            <a:pPr>
              <a:spcAft>
                <a:spcPts val="500"/>
              </a:spcAft>
              <a:defRPr sz="1050">
                <a:solidFill>
                  <a:srgbClr val="2B343E"/>
                </a:solidFill>
                <a:latin typeface="Aptos"/>
              </a:defRPr>
            </a:pPr>
            <a:r>
              <a:rPr dirty="0"/>
              <a:t>• Metal and Alternative &amp; Punk recur across many countries.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6BBD83-3080-8947-89ED-6637367F880C}"/>
              </a:ext>
            </a:extLst>
          </p:cNvPr>
          <p:cNvSpPr txBox="1"/>
          <p:nvPr/>
        </p:nvSpPr>
        <p:spPr>
          <a:xfrm>
            <a:off x="6259099" y="3060173"/>
            <a:ext cx="1806244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FFFFF"/>
                </a:solidFill>
                <a:latin typeface="Aptos"/>
              </a:defRPr>
            </a:pPr>
            <a:r>
              <a:rPr lang="en-IN" sz="1250" dirty="0">
                <a:solidFill>
                  <a:schemeClr val="accent6"/>
                </a:solidFill>
              </a:rPr>
              <a:t>PRODUCT AFFINITY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9459" y="3385551"/>
            <a:ext cx="5170308" cy="705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2B343E"/>
                </a:solidFill>
                <a:latin typeface="Aptos"/>
              </a:defRPr>
            </a:pPr>
            <a:r>
              <a:rPr sz="1050" dirty="0"/>
              <a:t>• The Doors and Mezmerize each appear in combinations purchased by 41 customers.</a:t>
            </a:r>
          </a:p>
          <a:p>
            <a:pPr>
              <a:spcAft>
                <a:spcPts val="500"/>
              </a:spcAft>
              <a:defRPr sz="950">
                <a:solidFill>
                  <a:srgbClr val="2B343E"/>
                </a:solidFill>
                <a:latin typeface="Aptos"/>
              </a:defRPr>
            </a:pPr>
            <a:r>
              <a:rPr sz="1050" dirty="0"/>
              <a:t>• 7 of the top 10 combinations are Rock</a:t>
            </a:r>
            <a:r>
              <a:rPr lang="en-US" sz="1050" dirty="0"/>
              <a:t>.</a:t>
            </a:r>
          </a:p>
          <a:p>
            <a:pPr>
              <a:spcAft>
                <a:spcPts val="500"/>
              </a:spcAft>
              <a:defRPr sz="950">
                <a:solidFill>
                  <a:srgbClr val="2B343E"/>
                </a:solidFill>
                <a:latin typeface="Aptos"/>
              </a:defRPr>
            </a:pPr>
            <a:r>
              <a:rPr lang="en-IN" sz="1050" dirty="0"/>
              <a:t>• </a:t>
            </a:r>
            <a:r>
              <a:rPr lang="en-US" sz="1050" dirty="0"/>
              <a:t>U</a:t>
            </a:r>
            <a:r>
              <a:rPr sz="1050" dirty="0"/>
              <a:t>se Rock</a:t>
            </a:r>
            <a:r>
              <a:rPr lang="en-US" sz="1050" dirty="0"/>
              <a:t> </a:t>
            </a:r>
            <a:r>
              <a:rPr sz="1050" dirty="0"/>
              <a:t>→</a:t>
            </a:r>
            <a:r>
              <a:rPr lang="en-US" sz="1050" dirty="0"/>
              <a:t> </a:t>
            </a:r>
            <a:r>
              <a:rPr sz="1050" dirty="0"/>
              <a:t>Metal recommendations for cross-sell.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4305" y="310896"/>
            <a:ext cx="750506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9"/>
                </a:solidFill>
                <a:latin typeface="Aptos Display"/>
              </a:defRPr>
            </a:pPr>
            <a:r>
              <a:rPr dirty="0"/>
              <a:t>Analysis </a:t>
            </a:r>
            <a:r>
              <a:rPr lang="en-US" dirty="0"/>
              <a:t>5</a:t>
            </a:r>
            <a:r>
              <a:rPr dirty="0"/>
              <a:t> </a:t>
            </a:r>
            <a:r>
              <a:rPr lang="en-IN" dirty="0"/>
              <a:t>-</a:t>
            </a:r>
            <a:r>
              <a:rPr dirty="0"/>
              <a:t> Regional Performance, </a:t>
            </a:r>
            <a:r>
              <a:rPr lang="en-US" dirty="0"/>
              <a:t>Customer </a:t>
            </a:r>
            <a:r>
              <a:rPr dirty="0"/>
              <a:t>Risk &amp; CLV</a:t>
            </a:r>
          </a:p>
        </p:txBody>
      </p:sp>
      <p:pic>
        <p:nvPicPr>
          <p:cNvPr id="17" name="Picture 16" descr="chinook_visual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393" y="1318125"/>
            <a:ext cx="5824942" cy="37724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Rectangle 18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6601968"/>
            <a:ext cx="2414444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8727C"/>
                </a:solidFill>
                <a:latin typeface="Aptos"/>
              </a:defRPr>
            </a:pPr>
            <a:r>
              <a:rPr lang="en-IN" dirty="0"/>
              <a:t>• Chinook Music Store • SQL Analysis &amp; Business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7453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27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F775840-884D-EC47-AAEA-549BD20F14A1}"/>
              </a:ext>
            </a:extLst>
          </p:cNvPr>
          <p:cNvSpPr/>
          <p:nvPr/>
        </p:nvSpPr>
        <p:spPr>
          <a:xfrm>
            <a:off x="482777" y="1152032"/>
            <a:ext cx="4644000" cy="1188000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741C150E-64F1-D54B-8DAC-D3856DB01112}"/>
              </a:ext>
            </a:extLst>
          </p:cNvPr>
          <p:cNvSpPr/>
          <p:nvPr/>
        </p:nvSpPr>
        <p:spPr>
          <a:xfrm>
            <a:off x="640846" y="1306231"/>
            <a:ext cx="1879062" cy="20387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250" b="1">
                <a:solidFill>
                  <a:srgbClr val="182D49"/>
                </a:solidFill>
                <a:latin typeface="Aptos"/>
              </a:defRPr>
            </a:pPr>
            <a:r>
              <a:rPr lang="en-IN" dirty="0">
                <a:solidFill>
                  <a:schemeClr val="accent6"/>
                </a:solidFill>
              </a:rPr>
              <a:t>REGIONAL MARKET</a:t>
            </a:r>
          </a:p>
          <a:p>
            <a:pPr>
              <a:defRPr sz="1250" b="1">
                <a:solidFill>
                  <a:srgbClr val="182D49"/>
                </a:solidFill>
                <a:latin typeface="Aptos"/>
              </a:defRPr>
            </a:pP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B4E9F44D-E25F-D34E-A011-DF966ECE97FF}"/>
              </a:ext>
            </a:extLst>
          </p:cNvPr>
          <p:cNvSpPr/>
          <p:nvPr/>
        </p:nvSpPr>
        <p:spPr>
          <a:xfrm>
            <a:off x="642157" y="1607649"/>
            <a:ext cx="4369114" cy="504350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 sz="1030">
                <a:solidFill>
                  <a:srgbClr val="2B343E"/>
                </a:solidFill>
                <a:latin typeface="Aptos"/>
              </a:defRPr>
            </a:pPr>
            <a:r>
              <a:rPr lang="en-IN" sz="1050" dirty="0"/>
              <a:t>Prague: Highest average spending - $136.62.</a:t>
            </a:r>
          </a:p>
          <a:p>
            <a:pPr marL="171450" indent="-171450">
              <a:buFont typeface="Arial" panose="020B0604020202020204" pitchFamily="34" charset="0"/>
              <a:buChar char="•"/>
              <a:defRPr sz="1030">
                <a:solidFill>
                  <a:srgbClr val="2B343E"/>
                </a:solidFill>
                <a:latin typeface="Aptos"/>
              </a:defRPr>
            </a:pPr>
            <a:r>
              <a:rPr lang="en-IN" sz="1050" dirty="0"/>
              <a:t>Dublin: Strong average spending - $114.84, despite a smaller customer base. </a:t>
            </a:r>
          </a:p>
          <a:p>
            <a:pPr marL="171450" indent="-171450">
              <a:buFont typeface="Arial" panose="020B0604020202020204" pitchFamily="34" charset="0"/>
              <a:buChar char="•"/>
              <a:defRPr sz="1030">
                <a:solidFill>
                  <a:srgbClr val="2B343E"/>
                </a:solidFill>
                <a:latin typeface="Aptos"/>
              </a:defRPr>
            </a:pPr>
            <a:r>
              <a:rPr lang="en-IN" sz="1050" dirty="0"/>
              <a:t>Brussels: 100% churn, making it a key retention concern.</a:t>
            </a:r>
          </a:p>
          <a:p>
            <a:pPr>
              <a:defRPr sz="1030">
                <a:solidFill>
                  <a:srgbClr val="2B343E"/>
                </a:solidFill>
                <a:latin typeface="Aptos"/>
              </a:defRPr>
            </a:pPr>
            <a:endParaRPr lang="en-IN" sz="1050" dirty="0"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D2FD363-8FB8-3140-B30D-F7C043A787DF}"/>
              </a:ext>
            </a:extLst>
          </p:cNvPr>
          <p:cNvSpPr/>
          <p:nvPr/>
        </p:nvSpPr>
        <p:spPr>
          <a:xfrm>
            <a:off x="482777" y="4062351"/>
            <a:ext cx="4644000" cy="1188000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B0FF7A16-FD01-8040-96B8-0652BA59A6A0}"/>
              </a:ext>
            </a:extLst>
          </p:cNvPr>
          <p:cNvSpPr/>
          <p:nvPr/>
        </p:nvSpPr>
        <p:spPr>
          <a:xfrm>
            <a:off x="484991" y="2596453"/>
            <a:ext cx="4644000" cy="1188000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4E1E40F9-0314-4546-9114-8AAD6CD17EAE}"/>
              </a:ext>
            </a:extLst>
          </p:cNvPr>
          <p:cNvSpPr/>
          <p:nvPr/>
        </p:nvSpPr>
        <p:spPr>
          <a:xfrm>
            <a:off x="640848" y="2695068"/>
            <a:ext cx="1509507" cy="270304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850" b="1">
                <a:solidFill>
                  <a:srgbClr val="FFFFFF"/>
                </a:solidFill>
                <a:latin typeface="Aptos"/>
              </a:defRPr>
            </a:pPr>
            <a:r>
              <a:rPr lang="en-IN" sz="1250" dirty="0">
                <a:solidFill>
                  <a:schemeClr val="accent6"/>
                </a:solidFill>
              </a:rPr>
              <a:t>CUSTOMER RISK</a:t>
            </a:r>
          </a:p>
          <a:p>
            <a:pPr>
              <a:defRPr sz="850" b="1">
                <a:solidFill>
                  <a:srgbClr val="FFFFFF"/>
                </a:solidFill>
                <a:latin typeface="Aptos"/>
              </a:defRPr>
            </a:pPr>
            <a:endParaRPr lang="en-IN" sz="1250" dirty="0">
              <a:solidFill>
                <a:schemeClr val="accent6"/>
              </a:solidFill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CA4F523E-21BD-3645-806E-9835122B7426}"/>
              </a:ext>
            </a:extLst>
          </p:cNvPr>
          <p:cNvSpPr/>
          <p:nvPr/>
        </p:nvSpPr>
        <p:spPr>
          <a:xfrm>
            <a:off x="640846" y="2990976"/>
            <a:ext cx="3982687" cy="74877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2B343E"/>
                </a:solidFill>
                <a:latin typeface="Aptos"/>
              </a:defRPr>
            </a:pPr>
            <a:r>
              <a:rPr lang="en-IN" sz="1050" dirty="0"/>
              <a:t>High Risk: 1 customer - Daan Peeters, inactive for 466 days.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2B343E"/>
                </a:solidFill>
                <a:latin typeface="Aptos"/>
              </a:defRPr>
            </a:pPr>
            <a:r>
              <a:rPr lang="en-IN" sz="1050" dirty="0"/>
              <a:t>Medium Risk: 15 customers - inactive for 180 - 365 days.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2B343E"/>
                </a:solidFill>
                <a:latin typeface="Aptos"/>
              </a:defRPr>
            </a:pPr>
            <a:r>
              <a:rPr lang="en-IN" sz="1050" dirty="0"/>
              <a:t>Low Risk: 43 customers - active within the last 180 days.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2B343E"/>
                </a:solidFill>
                <a:latin typeface="Aptos"/>
              </a:defRPr>
            </a:pPr>
            <a:r>
              <a:rPr lang="en-IN" sz="1050" dirty="0"/>
              <a:t>Key risk factor: Longer inactivity indicates higher churn risk.</a:t>
            </a:r>
          </a:p>
          <a:p>
            <a:pPr marL="171450" indent="-171450">
              <a:spcAft>
                <a:spcPts val="200"/>
              </a:spcAft>
              <a:buFont typeface="Arial" panose="020B0604020202020204" pitchFamily="34" charset="0"/>
              <a:buChar char="•"/>
              <a:defRPr sz="1050">
                <a:solidFill>
                  <a:srgbClr val="2B343E"/>
                </a:solidFill>
                <a:latin typeface="Aptos"/>
              </a:defRPr>
            </a:pPr>
            <a:endParaRPr lang="en-IN" sz="105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DAAEB701-AEE4-A649-9680-29ECC76CB906}"/>
              </a:ext>
            </a:extLst>
          </p:cNvPr>
          <p:cNvSpPr/>
          <p:nvPr/>
        </p:nvSpPr>
        <p:spPr>
          <a:xfrm>
            <a:off x="622916" y="4177464"/>
            <a:ext cx="2163931" cy="26679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850" b="1">
                <a:solidFill>
                  <a:srgbClr val="FFFFFF"/>
                </a:solidFill>
                <a:latin typeface="Aptos"/>
              </a:defRPr>
            </a:pPr>
            <a:r>
              <a:rPr lang="en-IN" sz="1250" dirty="0">
                <a:solidFill>
                  <a:schemeClr val="accent6"/>
                </a:solidFill>
              </a:rPr>
              <a:t>CUSTOMER LIFETIME VALUE</a:t>
            </a:r>
          </a:p>
          <a:p>
            <a:pPr>
              <a:defRPr sz="850" b="1">
                <a:solidFill>
                  <a:srgbClr val="FFFFFF"/>
                </a:solidFill>
                <a:latin typeface="Aptos"/>
              </a:defRPr>
            </a:pPr>
            <a:endParaRPr lang="en-IN" sz="1250" dirty="0">
              <a:solidFill>
                <a:schemeClr val="accent6"/>
              </a:solidFill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5F1DF36E-6D30-9D4C-970C-1457FF7392CD}"/>
              </a:ext>
            </a:extLst>
          </p:cNvPr>
          <p:cNvSpPr/>
          <p:nvPr/>
        </p:nvSpPr>
        <p:spPr>
          <a:xfrm>
            <a:off x="606478" y="4505359"/>
            <a:ext cx="3517287" cy="661006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171450" lvl="0" indent="-171450">
              <a:buFont typeface="Arial" panose="020B0604020202020204" pitchFamily="34" charset="0"/>
              <a:buChar char="•"/>
              <a:defRPr sz="1030">
                <a:solidFill>
                  <a:srgbClr val="2B343E"/>
                </a:solidFill>
                <a:latin typeface="Aptos"/>
              </a:defRPr>
            </a:pPr>
            <a:r>
              <a:rPr lang="en-IN" sz="1050" dirty="0">
                <a:latin typeface="Aptos"/>
              </a:rPr>
              <a:t>Active: 43 customers; predicted 5-year CLV $110.61.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 sz="1030">
                <a:solidFill>
                  <a:srgbClr val="2B343E"/>
                </a:solidFill>
                <a:latin typeface="Aptos"/>
              </a:defRPr>
            </a:pPr>
            <a:r>
              <a:rPr lang="en-IN" sz="1050" dirty="0">
                <a:latin typeface="Aptos"/>
              </a:rPr>
              <a:t>At-Risk: 15 customers; predicted CLV $99.83.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 sz="1030">
                <a:solidFill>
                  <a:srgbClr val="2B343E"/>
                </a:solidFill>
                <a:latin typeface="Aptos"/>
              </a:defRPr>
            </a:pPr>
            <a:r>
              <a:rPr lang="en-IN" sz="1050" dirty="0">
                <a:latin typeface="Aptos"/>
              </a:rPr>
              <a:t>Churned: 1 customer; predicted CLV $87.68.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 sz="1030">
                <a:solidFill>
                  <a:srgbClr val="2B343E"/>
                </a:solidFill>
                <a:latin typeface="Aptos"/>
              </a:defRPr>
            </a:pPr>
            <a:r>
              <a:rPr lang="en-IN" sz="1050" dirty="0">
                <a:latin typeface="Aptos"/>
              </a:rPr>
              <a:t>Predicted CLV exceeds current value for all segments.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 sz="1030">
                <a:solidFill>
                  <a:srgbClr val="2B343E"/>
                </a:solidFill>
                <a:latin typeface="Aptos"/>
              </a:defRPr>
            </a:pPr>
            <a:endParaRPr lang="en-IN" sz="1050" dirty="0"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87760" y="266071"/>
            <a:ext cx="1190393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82D49"/>
                </a:solidFill>
                <a:latin typeface="Aptos Display"/>
              </a:defRPr>
            </a:pPr>
            <a:r>
              <a:rPr dirty="0"/>
              <a:t>Analysis </a:t>
            </a:r>
            <a:r>
              <a:rPr lang="en-US" dirty="0"/>
              <a:t>6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Campaigns, Open</a:t>
            </a:r>
            <a:r>
              <a:rPr lang="en-US" dirty="0"/>
              <a:t>-Ended </a:t>
            </a:r>
            <a:r>
              <a:rPr dirty="0"/>
              <a:t>Analysis, D</a:t>
            </a:r>
            <a:r>
              <a:rPr lang="en-US" dirty="0"/>
              <a:t>atabase Updates</a:t>
            </a:r>
            <a:r>
              <a:rPr dirty="0"/>
              <a:t> &amp; Geograph</a:t>
            </a:r>
            <a:r>
              <a:rPr lang="en-US" dirty="0"/>
              <a:t>ic Spending</a:t>
            </a:r>
            <a:endParaRPr dirty="0"/>
          </a:p>
        </p:txBody>
      </p:sp>
      <p:pic>
        <p:nvPicPr>
          <p:cNvPr id="27" name="Picture 26" descr="chinook_visual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432" y="1377193"/>
            <a:ext cx="5684984" cy="4462153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" y="6601968"/>
            <a:ext cx="2414444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8727C"/>
                </a:solidFill>
                <a:latin typeface="Aptos"/>
              </a:defRPr>
            </a:pPr>
            <a:r>
              <a:rPr lang="en-IN" dirty="0"/>
              <a:t>• Chinook Music Store • SQL Analysis &amp; Business Insights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7453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27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FF94D2A4-43EC-EE4D-B3F8-83C4D790EE40}"/>
              </a:ext>
            </a:extLst>
          </p:cNvPr>
          <p:cNvSpPr/>
          <p:nvPr/>
        </p:nvSpPr>
        <p:spPr>
          <a:xfrm>
            <a:off x="493800" y="876383"/>
            <a:ext cx="5091211" cy="1260000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824B4B9A-C198-6A4E-82A1-FF2D70ACC491}"/>
              </a:ext>
            </a:extLst>
          </p:cNvPr>
          <p:cNvSpPr/>
          <p:nvPr/>
        </p:nvSpPr>
        <p:spPr>
          <a:xfrm>
            <a:off x="640848" y="996437"/>
            <a:ext cx="2419516" cy="207408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1250" b="1">
                <a:solidFill>
                  <a:srgbClr val="182D49"/>
                </a:solidFill>
                <a:latin typeface="Aptos"/>
              </a:defRPr>
            </a:pPr>
            <a:r>
              <a:rPr lang="en-IN" dirty="0">
                <a:solidFill>
                  <a:schemeClr val="accent6"/>
                </a:solidFill>
              </a:rPr>
              <a:t>CAMPAIGN MEASUREMENT</a:t>
            </a:r>
          </a:p>
          <a:p>
            <a:pPr>
              <a:defRPr sz="1250" b="1">
                <a:solidFill>
                  <a:srgbClr val="182D49"/>
                </a:solidFill>
                <a:latin typeface="Aptos"/>
              </a:defRPr>
            </a:pPr>
            <a:endParaRPr lang="en-IN" dirty="0">
              <a:solidFill>
                <a:schemeClr val="accent6"/>
              </a:solidFill>
            </a:endParaRPr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2BFC57AA-014D-B243-9510-B17579F7761B}"/>
              </a:ext>
            </a:extLst>
          </p:cNvPr>
          <p:cNvSpPr/>
          <p:nvPr/>
        </p:nvSpPr>
        <p:spPr>
          <a:xfrm>
            <a:off x="636256" y="1284063"/>
            <a:ext cx="4645207" cy="633179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  <a:defRPr sz="1030">
                <a:solidFill>
                  <a:srgbClr val="2B343E"/>
                </a:solidFill>
                <a:latin typeface="Aptos"/>
              </a:defRPr>
            </a:pPr>
            <a:r>
              <a:rPr lang="en-IN" sz="1050" dirty="0"/>
              <a:t>Campaign data is unavailable, so campaign effectiveness cannot be measured directly.</a:t>
            </a:r>
          </a:p>
          <a:p>
            <a:pPr marL="171450" indent="-171450">
              <a:buFont typeface="Arial" panose="020B0604020202020204" pitchFamily="34" charset="0"/>
              <a:buChar char="•"/>
              <a:defRPr sz="1030">
                <a:solidFill>
                  <a:srgbClr val="2B343E"/>
                </a:solidFill>
                <a:latin typeface="Aptos"/>
              </a:defRPr>
            </a:pPr>
            <a:r>
              <a:rPr lang="en-IN" sz="1050" dirty="0"/>
              <a:t>Measurement Framework:</a:t>
            </a:r>
          </a:p>
          <a:p>
            <a:pPr>
              <a:defRPr sz="1030">
                <a:solidFill>
                  <a:srgbClr val="2B343E"/>
                </a:solidFill>
                <a:latin typeface="Aptos"/>
              </a:defRPr>
            </a:pPr>
            <a:r>
              <a:rPr lang="en-IN" sz="1050" dirty="0"/>
              <a:t>	Acquisition → New Customers | Retention → Repeat Customers | </a:t>
            </a:r>
          </a:p>
          <a:p>
            <a:pPr>
              <a:defRPr sz="1030">
                <a:solidFill>
                  <a:srgbClr val="2B343E"/>
                </a:solidFill>
                <a:latin typeface="Aptos"/>
              </a:defRPr>
            </a:pPr>
            <a:r>
              <a:rPr lang="en-IN" sz="1050" dirty="0"/>
              <a:t>	Sales → Revenue, Orders &amp; AOV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80C1479D-4B8B-0D4D-AB9F-B51AEE704478}"/>
              </a:ext>
            </a:extLst>
          </p:cNvPr>
          <p:cNvSpPr/>
          <p:nvPr/>
        </p:nvSpPr>
        <p:spPr>
          <a:xfrm>
            <a:off x="499434" y="2306667"/>
            <a:ext cx="5091211" cy="1260000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6"/>
              </a:solidFill>
            </a:endParaRP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6D3F6076-7547-3448-A46F-A56586A965CA}"/>
              </a:ext>
            </a:extLst>
          </p:cNvPr>
          <p:cNvSpPr/>
          <p:nvPr/>
        </p:nvSpPr>
        <p:spPr>
          <a:xfrm>
            <a:off x="502920" y="3747319"/>
            <a:ext cx="5091211" cy="1260000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7209EBF0-178D-D646-935C-52D8FE1090F3}"/>
              </a:ext>
            </a:extLst>
          </p:cNvPr>
          <p:cNvSpPr/>
          <p:nvPr/>
        </p:nvSpPr>
        <p:spPr>
          <a:xfrm>
            <a:off x="493799" y="5213234"/>
            <a:ext cx="5091211" cy="1260000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FFD3BB6D-23CA-7A41-B0B5-9CC20104F611}"/>
              </a:ext>
            </a:extLst>
          </p:cNvPr>
          <p:cNvSpPr/>
          <p:nvPr/>
        </p:nvSpPr>
        <p:spPr>
          <a:xfrm>
            <a:off x="632094" y="2407348"/>
            <a:ext cx="2622094" cy="22325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850" b="1">
                <a:solidFill>
                  <a:srgbClr val="FFFFFF"/>
                </a:solidFill>
                <a:latin typeface="Aptos"/>
              </a:defRPr>
            </a:pPr>
            <a:r>
              <a:rPr lang="en-IN" sz="1250" dirty="0">
                <a:solidFill>
                  <a:schemeClr val="accent6"/>
                </a:solidFill>
              </a:rPr>
              <a:t>APPROACH TO OPEN-ENDED ANALYSIS</a:t>
            </a:r>
          </a:p>
          <a:p>
            <a:pPr>
              <a:defRPr sz="850" b="1">
                <a:solidFill>
                  <a:srgbClr val="FFFFFF"/>
                </a:solidFill>
                <a:latin typeface="Aptos"/>
              </a:defRPr>
            </a:pPr>
            <a:endParaRPr lang="en-IN" sz="1250" dirty="0">
              <a:solidFill>
                <a:schemeClr val="accent6"/>
              </a:solidFill>
            </a:endParaRPr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A9822D79-FBA3-674F-B0A7-AF0B3360D3CA}"/>
              </a:ext>
            </a:extLst>
          </p:cNvPr>
          <p:cNvSpPr/>
          <p:nvPr/>
        </p:nvSpPr>
        <p:spPr>
          <a:xfrm>
            <a:off x="632092" y="2671221"/>
            <a:ext cx="3982687" cy="814183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spcAft>
                <a:spcPts val="500"/>
              </a:spcAft>
              <a:defRPr sz="1050">
                <a:solidFill>
                  <a:srgbClr val="2B343E"/>
                </a:solidFill>
                <a:latin typeface="Aptos"/>
              </a:defRPr>
            </a:pPr>
            <a:r>
              <a:rPr lang="en-IN" sz="1050" dirty="0"/>
              <a:t>1. Understand the business and schema.</a:t>
            </a:r>
            <a:br>
              <a:rPr lang="en-IN" sz="1050" dirty="0"/>
            </a:br>
            <a:r>
              <a:rPr lang="en-IN" sz="1050" dirty="0"/>
              <a:t>2. Validate NULLs and duplicates.</a:t>
            </a:r>
            <a:br>
              <a:rPr lang="en-IN" sz="1050" dirty="0"/>
            </a:br>
            <a:r>
              <a:rPr lang="en-IN" sz="1050" dirty="0"/>
              <a:t>3. Explore customers, products and sales.</a:t>
            </a:r>
            <a:br>
              <a:rPr lang="en-IN" sz="1050" dirty="0"/>
            </a:br>
            <a:r>
              <a:rPr lang="en-IN" sz="1050" dirty="0"/>
              <a:t>4. Analyze customer, product and regional behaviour.</a:t>
            </a:r>
            <a:br>
              <a:rPr lang="en-IN" sz="1050" dirty="0"/>
            </a:br>
            <a:r>
              <a:rPr lang="en-IN" sz="1050" dirty="0"/>
              <a:t>5. Turn patterns into management actions.</a:t>
            </a:r>
          </a:p>
          <a:p>
            <a:pPr>
              <a:spcAft>
                <a:spcPts val="500"/>
              </a:spcAft>
              <a:defRPr sz="1050">
                <a:solidFill>
                  <a:srgbClr val="2B343E"/>
                </a:solidFill>
                <a:latin typeface="Aptos"/>
              </a:defRPr>
            </a:pPr>
            <a:endParaRPr lang="en-IN" sz="105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26E83661-C78B-D449-9252-8BE41FC1CEB9}"/>
              </a:ext>
            </a:extLst>
          </p:cNvPr>
          <p:cNvSpPr/>
          <p:nvPr/>
        </p:nvSpPr>
        <p:spPr>
          <a:xfrm>
            <a:off x="640846" y="3916874"/>
            <a:ext cx="2738848" cy="218322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850" b="1">
                <a:solidFill>
                  <a:srgbClr val="FFFFFF"/>
                </a:solidFill>
                <a:latin typeface="Aptos"/>
              </a:defRPr>
            </a:pPr>
            <a:r>
              <a:rPr lang="en-IN" sz="1250" dirty="0">
                <a:solidFill>
                  <a:schemeClr val="accent6"/>
                </a:solidFill>
              </a:rPr>
              <a:t>DATABASE STRUCTURE UPDATE (DDL)</a:t>
            </a:r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72228FA8-371F-194B-98AC-E195C642334F}"/>
              </a:ext>
            </a:extLst>
          </p:cNvPr>
          <p:cNvSpPr/>
          <p:nvPr/>
        </p:nvSpPr>
        <p:spPr>
          <a:xfrm>
            <a:off x="640846" y="4190756"/>
            <a:ext cx="4649581" cy="476945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171450" lvl="0" indent="-171450">
              <a:buFont typeface="Arial" panose="020B0604020202020204" pitchFamily="34" charset="0"/>
              <a:buChar char="•"/>
              <a:defRPr sz="1030">
                <a:solidFill>
                  <a:srgbClr val="2B343E"/>
                </a:solidFill>
                <a:latin typeface="Aptos"/>
              </a:defRPr>
            </a:pPr>
            <a:r>
              <a:rPr lang="en-IN" sz="1050" dirty="0">
                <a:latin typeface="Aptos"/>
              </a:rPr>
              <a:t>Added ReleaseYear to the Album table and verified the updated structure using DESC.</a:t>
            </a:r>
          </a:p>
          <a:p>
            <a:pPr marL="171450" lvl="0" indent="-171450">
              <a:buFont typeface="Arial" panose="020B0604020202020204" pitchFamily="34" charset="0"/>
              <a:buChar char="•"/>
              <a:defRPr sz="1030">
                <a:solidFill>
                  <a:srgbClr val="2B343E"/>
                </a:solidFill>
                <a:latin typeface="Aptos"/>
              </a:defRPr>
            </a:pPr>
            <a:r>
              <a:rPr lang="en-IN" sz="1050" dirty="0">
                <a:latin typeface="Aptos"/>
              </a:rPr>
              <a:t>SQL: ALTER TABLE album ADD COLUMN ReleaseYear INTEGER;</a:t>
            </a:r>
          </a:p>
          <a:p>
            <a:pPr lvl="0">
              <a:defRPr sz="1030">
                <a:solidFill>
                  <a:srgbClr val="2B343E"/>
                </a:solidFill>
                <a:latin typeface="Aptos"/>
              </a:defRPr>
            </a:pPr>
            <a:r>
              <a:rPr lang="en-IN" sz="1050" dirty="0">
                <a:latin typeface="Aptos"/>
              </a:rPr>
              <a:t>	DESC album;</a:t>
            </a:r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7B9078DF-7EEF-BD4D-A05E-0DF5309EC665}"/>
              </a:ext>
            </a:extLst>
          </p:cNvPr>
          <p:cNvSpPr/>
          <p:nvPr/>
        </p:nvSpPr>
        <p:spPr>
          <a:xfrm>
            <a:off x="640850" y="5291790"/>
            <a:ext cx="2986091" cy="246424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>
              <a:defRPr sz="850" b="1">
                <a:solidFill>
                  <a:srgbClr val="FFFFFF"/>
                </a:solidFill>
                <a:latin typeface="Aptos"/>
              </a:defRPr>
            </a:pPr>
            <a:r>
              <a:rPr lang="en-IN" sz="1250" dirty="0">
                <a:solidFill>
                  <a:schemeClr val="accent6"/>
                </a:solidFill>
              </a:rPr>
              <a:t>GEOGRAPHIC SPENDING BY COUNTRY</a:t>
            </a:r>
          </a:p>
          <a:p>
            <a:pPr>
              <a:defRPr sz="850" b="1">
                <a:solidFill>
                  <a:srgbClr val="FFFFFF"/>
                </a:solidFill>
                <a:latin typeface="Aptos"/>
              </a:defRPr>
            </a:pPr>
            <a:endParaRPr lang="en-IN" sz="1250" dirty="0">
              <a:solidFill>
                <a:schemeClr val="accent6"/>
              </a:solidFill>
            </a:endParaRPr>
          </a:p>
        </p:txBody>
      </p:sp>
      <p:sp>
        <p:nvSpPr>
          <p:cNvPr id="48" name="Text 14">
            <a:extLst>
              <a:ext uri="{FF2B5EF4-FFF2-40B4-BE49-F238E27FC236}">
                <a16:creationId xmlns:a16="http://schemas.microsoft.com/office/drawing/2014/main" id="{DE03D6F0-7FAA-0A46-B732-EA8DB7A14CBB}"/>
              </a:ext>
            </a:extLst>
          </p:cNvPr>
          <p:cNvSpPr/>
          <p:nvPr/>
        </p:nvSpPr>
        <p:spPr>
          <a:xfrm>
            <a:off x="640846" y="5583187"/>
            <a:ext cx="4343529" cy="774257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none" lIns="0" tIns="0" rIns="0" bIns="0" rtlCol="0" anchor="t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171450" lvl="0" indent="-171450">
              <a:spcAft>
                <a:spcPts val="400"/>
              </a:spcAft>
              <a:buFont typeface="Arial" panose="020B0604020202020204" pitchFamily="34" charset="0"/>
              <a:buChar char="•"/>
              <a:defRPr sz="950">
                <a:solidFill>
                  <a:srgbClr val="2B343E"/>
                </a:solidFill>
                <a:latin typeface="Aptos"/>
              </a:defRPr>
            </a:pPr>
            <a:r>
              <a:rPr lang="en-IN" sz="1050" dirty="0">
                <a:latin typeface="Aptos"/>
                <a:ea typeface="+mn-ea"/>
                <a:cs typeface="+mn-cs"/>
              </a:rPr>
              <a:t>Czech Republic: Highest average spending - $1,591.92.</a:t>
            </a:r>
          </a:p>
          <a:p>
            <a:pPr marL="171450" lvl="0" indent="-171450">
              <a:spcAft>
                <a:spcPts val="400"/>
              </a:spcAft>
              <a:buFont typeface="Arial" panose="020B0604020202020204" pitchFamily="34" charset="0"/>
              <a:buChar char="•"/>
              <a:defRPr sz="950">
                <a:solidFill>
                  <a:srgbClr val="2B343E"/>
                </a:solidFill>
                <a:latin typeface="Aptos"/>
              </a:defRPr>
            </a:pPr>
            <a:r>
              <a:rPr lang="en-IN" sz="1050" dirty="0">
                <a:latin typeface="Aptos"/>
                <a:ea typeface="+mn-ea"/>
                <a:cs typeface="+mn-cs"/>
              </a:rPr>
              <a:t>Ireland: $1,433.52, followed by Spain at $1,076.13.</a:t>
            </a:r>
          </a:p>
          <a:p>
            <a:pPr marL="171450" lvl="0" indent="-171450">
              <a:spcAft>
                <a:spcPts val="400"/>
              </a:spcAft>
              <a:buFont typeface="Arial" panose="020B0604020202020204" pitchFamily="34" charset="0"/>
              <a:buChar char="•"/>
              <a:defRPr sz="950">
                <a:solidFill>
                  <a:srgbClr val="2B343E"/>
                </a:solidFill>
                <a:latin typeface="Aptos"/>
              </a:defRPr>
            </a:pPr>
            <a:r>
              <a:rPr lang="en-IN" sz="1050" dirty="0">
                <a:latin typeface="Aptos"/>
                <a:ea typeface="+mn-ea"/>
                <a:cs typeface="+mn-cs"/>
              </a:rPr>
              <a:t>USA: Largest customer base (13 customers) with $800.45 average spending.</a:t>
            </a:r>
          </a:p>
          <a:p>
            <a:pPr marL="171450" lvl="0" indent="-171450">
              <a:spcAft>
                <a:spcPts val="400"/>
              </a:spcAft>
              <a:buFont typeface="Arial" panose="020B0604020202020204" pitchFamily="34" charset="0"/>
              <a:buChar char="•"/>
              <a:defRPr sz="950">
                <a:solidFill>
                  <a:srgbClr val="2B343E"/>
                </a:solidFill>
                <a:latin typeface="Aptos"/>
              </a:defRPr>
            </a:pPr>
            <a:r>
              <a:rPr lang="en-IN" sz="1050" dirty="0">
                <a:latin typeface="Aptos"/>
                <a:ea typeface="+mn-ea"/>
                <a:cs typeface="+mn-cs"/>
              </a:rPr>
              <a:t>Denmark and Argentina: Lowest average spending - $196.02 and $396.00.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639655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9"/>
                </a:solidFill>
                <a:latin typeface="Aptos Display"/>
              </a:defRPr>
            </a:pPr>
            <a:r>
              <a:rPr dirty="0"/>
              <a:t>Strategic Recommendations I </a:t>
            </a:r>
            <a:r>
              <a:rPr lang="en-US" dirty="0"/>
              <a:t>-</a:t>
            </a:r>
            <a:r>
              <a:rPr dirty="0"/>
              <a:t> Sales &amp;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6" y="723987"/>
            <a:ext cx="442731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8727C"/>
                </a:solidFill>
                <a:latin typeface="Aptos"/>
              </a:defRPr>
            </a:pPr>
            <a:r>
              <a:rPr dirty="0"/>
              <a:t>Prioritize proven demand first, then use affinity data to expand basket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40"/>
            <a:ext cx="3474720" cy="1188215"/>
          </a:xfrm>
          <a:prstGeom prst="roundRect">
            <a:avLst/>
          </a:prstGeom>
          <a:solidFill>
            <a:srgbClr val="F4F7FA"/>
          </a:solidFill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58952" y="1344168"/>
            <a:ext cx="32004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49"/>
                </a:solidFill>
                <a:latin typeface="Aptos"/>
              </a:defRPr>
            </a:pPr>
            <a:r>
              <a:rPr sz="1250" dirty="0"/>
              <a:t>1  Promote the strongest USA genres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09928"/>
            <a:ext cx="331012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00">
                <a:solidFill>
                  <a:srgbClr val="2B343E"/>
                </a:solidFill>
                <a:latin typeface="Aptos"/>
              </a:defRPr>
            </a:pPr>
            <a:r>
              <a:rPr sz="1050" dirty="0"/>
              <a:t>Rock contributes 53.</a:t>
            </a:r>
            <a:r>
              <a:rPr lang="en-US" sz="1050" dirty="0"/>
              <a:t>4</a:t>
            </a:r>
            <a:r>
              <a:rPr sz="1050" dirty="0"/>
              <a:t>% of USA sales. Build the core promotion around Rock, while maintaining Alternative &amp; Punk and Metal as secondary campaigns.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34440"/>
            <a:ext cx="3474720" cy="1188215"/>
          </a:xfrm>
          <a:prstGeom prst="roundRect">
            <a:avLst/>
          </a:prstGeom>
          <a:solidFill>
            <a:srgbClr val="F4F7FA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07992" y="1344168"/>
            <a:ext cx="2685928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D49"/>
                </a:solidFill>
                <a:latin typeface="Aptos"/>
              </a:defRPr>
            </a:pPr>
            <a:r>
              <a:rPr sz="1250" dirty="0"/>
              <a:t>2  Promote one album per top genre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712450"/>
            <a:ext cx="3165796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B343E"/>
                </a:solidFill>
                <a:latin typeface="Aptos"/>
              </a:defRPr>
            </a:pPr>
            <a:r>
              <a:rPr sz="1050" dirty="0"/>
              <a:t>Prioritize Nirvana's From The Muddy Banks</a:t>
            </a:r>
            <a:r>
              <a:rPr lang="en-US" sz="1050" dirty="0"/>
              <a:t> </a:t>
            </a:r>
            <a:r>
              <a:rPr lang="en-IN" sz="1050" dirty="0"/>
              <a:t>Of The </a:t>
            </a:r>
            <a:r>
              <a:rPr lang="en-IN" sz="1050" dirty="0" err="1"/>
              <a:t>Wishkah</a:t>
            </a:r>
            <a:r>
              <a:rPr lang="en-IN" sz="1050" dirty="0"/>
              <a:t> [live]</a:t>
            </a:r>
            <a:r>
              <a:rPr sz="1050" dirty="0"/>
              <a:t>, R.E.M.'s Green and System Of A Down's Mezmerize to cover three high-performing </a:t>
            </a:r>
            <a:r>
              <a:rPr lang="en-US" sz="1050" dirty="0"/>
              <a:t>genre</a:t>
            </a:r>
            <a:r>
              <a:rPr sz="1050" dirty="0"/>
              <a:t>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234440"/>
            <a:ext cx="3474720" cy="1188215"/>
          </a:xfrm>
          <a:prstGeom prst="roundRect">
            <a:avLst/>
          </a:prstGeom>
          <a:solidFill>
            <a:srgbClr val="F4F7FA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1" y="1344168"/>
            <a:ext cx="1899494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D49"/>
                </a:solidFill>
                <a:latin typeface="Aptos"/>
              </a:defRPr>
            </a:pPr>
            <a:r>
              <a:rPr sz="1250" dirty="0"/>
              <a:t>3  Build cross-sell bundles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1709928"/>
            <a:ext cx="3176017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B343E"/>
                </a:solidFill>
                <a:latin typeface="Aptos"/>
              </a:defRPr>
            </a:pPr>
            <a:r>
              <a:rPr sz="1050" dirty="0"/>
              <a:t>Use Rock</a:t>
            </a:r>
            <a:r>
              <a:rPr lang="en-US" sz="1050" dirty="0"/>
              <a:t> </a:t>
            </a:r>
            <a:r>
              <a:rPr sz="1050" dirty="0"/>
              <a:t>→</a:t>
            </a:r>
            <a:r>
              <a:rPr lang="en-US" sz="1050" dirty="0"/>
              <a:t> </a:t>
            </a:r>
            <a:r>
              <a:rPr sz="1050" dirty="0"/>
              <a:t>Metal affinity and the strong combinations around The Doors, Mezmerize and Dark Side Of The Moon to create bundles and recommendations.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E928EAA-77F3-724C-BE89-6015934C164F}"/>
              </a:ext>
            </a:extLst>
          </p:cNvPr>
          <p:cNvGrpSpPr/>
          <p:nvPr/>
        </p:nvGrpSpPr>
        <p:grpSpPr>
          <a:xfrm>
            <a:off x="594360" y="2805464"/>
            <a:ext cx="2240280" cy="3377118"/>
            <a:chOff x="594357" y="2610864"/>
            <a:chExt cx="2240280" cy="3377118"/>
          </a:xfrm>
        </p:grpSpPr>
        <p:sp>
          <p:nvSpPr>
            <p:cNvPr id="19" name="Rounded Rectangle 18"/>
            <p:cNvSpPr/>
            <p:nvPr/>
          </p:nvSpPr>
          <p:spPr>
            <a:xfrm>
              <a:off x="594360" y="2610864"/>
              <a:ext cx="1417320" cy="292608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67512" y="2629152"/>
              <a:ext cx="1271016" cy="2231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850" b="1">
                  <a:solidFill>
                    <a:srgbClr val="FFFFFF"/>
                  </a:solidFill>
                  <a:latin typeface="Aptos"/>
                </a:defRPr>
              </a:pPr>
              <a:r>
                <a:rPr dirty="0"/>
                <a:t>EXPECTED IMPACT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94360" y="3040719"/>
              <a:ext cx="2174297" cy="6120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94360" y="3025883"/>
              <a:ext cx="117957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400" b="1">
                  <a:solidFill>
                    <a:srgbClr val="182D49"/>
                  </a:solidFill>
                  <a:latin typeface="Aptos Display"/>
                </a:defRPr>
              </a:pPr>
              <a:r>
                <a:rPr sz="2000" dirty="0"/>
                <a:t>53.</a:t>
              </a:r>
              <a:r>
                <a:rPr lang="en-US" sz="2000" dirty="0"/>
                <a:t>4</a:t>
              </a:r>
              <a:r>
                <a:rPr sz="2000" dirty="0"/>
                <a:t>%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94360" y="3374906"/>
              <a:ext cx="134775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>
                  <a:solidFill>
                    <a:srgbClr val="68727C"/>
                  </a:solidFill>
                  <a:latin typeface="Aptos"/>
                </a:defRPr>
              </a:pPr>
              <a:r>
                <a:rPr dirty="0"/>
                <a:t>USA sales from Rock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94360" y="3823849"/>
              <a:ext cx="2174297" cy="612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94360" y="3824874"/>
              <a:ext cx="105156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400" b="1">
                  <a:solidFill>
                    <a:srgbClr val="182D49"/>
                  </a:solidFill>
                  <a:latin typeface="Aptos Display"/>
                </a:defRPr>
              </a:pPr>
              <a:r>
                <a:rPr sz="2000" dirty="0"/>
                <a:t>$27.72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94359" y="4202610"/>
              <a:ext cx="217429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>
                  <a:solidFill>
                    <a:srgbClr val="68727C"/>
                  </a:solidFill>
                  <a:latin typeface="Aptos"/>
                </a:defRPr>
              </a:pPr>
              <a:r>
                <a:rPr lang="en-IN" sz="1000" dirty="0"/>
                <a:t>Sales of the top recommended album</a:t>
              </a:r>
              <a:endParaRPr dirty="0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594357" y="4623121"/>
              <a:ext cx="2174300" cy="6120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94357" y="4629928"/>
              <a:ext cx="4979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400" b="1">
                  <a:solidFill>
                    <a:srgbClr val="182D49"/>
                  </a:solidFill>
                  <a:latin typeface="Aptos Display"/>
                </a:defRPr>
              </a:pPr>
              <a:r>
                <a:rPr sz="2000" dirty="0"/>
                <a:t>41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94357" y="4978833"/>
              <a:ext cx="224028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>
                  <a:solidFill>
                    <a:srgbClr val="68727C"/>
                  </a:solidFill>
                  <a:latin typeface="Aptos"/>
                </a:defRPr>
              </a:pPr>
              <a:r>
                <a:rPr dirty="0"/>
                <a:t>Customers in top affinity combinations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94358" y="5374697"/>
              <a:ext cx="2174299" cy="6120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94360" y="5350207"/>
              <a:ext cx="31451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400" b="1">
                  <a:solidFill>
                    <a:srgbClr val="182D49"/>
                  </a:solidFill>
                  <a:latin typeface="Aptos Display"/>
                </a:defRPr>
              </a:pPr>
              <a:r>
                <a:rPr sz="2000" dirty="0"/>
                <a:t>3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94361" y="5743935"/>
              <a:ext cx="1527048" cy="2440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>
                  <a:solidFill>
                    <a:srgbClr val="68727C"/>
                  </a:solidFill>
                  <a:latin typeface="Aptos"/>
                </a:defRPr>
              </a:pPr>
              <a:r>
                <a:rPr dirty="0"/>
                <a:t>Core promotional genres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378389" y="5871223"/>
            <a:ext cx="4594411" cy="464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B343E"/>
                </a:solidFill>
                <a:latin typeface="Aptos"/>
              </a:defRPr>
            </a:pP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• Use genre-specific messaging instead of one generic campaign.</a:t>
            </a:r>
          </a:p>
          <a:p>
            <a:pPr>
              <a:spcAft>
                <a:spcPts val="500"/>
              </a:spcAft>
              <a:defRPr sz="1100">
                <a:solidFill>
                  <a:srgbClr val="2B343E"/>
                </a:solidFill>
                <a:latin typeface="Aptos"/>
              </a:defRPr>
            </a:pPr>
            <a:r>
              <a:rPr sz="1000" dirty="0">
                <a:solidFill>
                  <a:schemeClr val="bg1">
                    <a:lumMod val="50000"/>
                  </a:schemeClr>
                </a:solidFill>
              </a:rPr>
              <a:t>• Test bundles that combine Rock with Metal or complementary high-affinity albums.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0352" y="6601968"/>
            <a:ext cx="2414444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8727C"/>
                </a:solidFill>
                <a:latin typeface="Aptos"/>
              </a:defRPr>
            </a:pPr>
            <a:r>
              <a:rPr lang="en-IN" dirty="0"/>
              <a:t>• Chinook Music Store • SQL Analysis &amp; Business Insights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7453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27C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240E44E2-4AB1-7749-B53E-37A4AAED9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656" y="2859393"/>
            <a:ext cx="5184017" cy="2868716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816569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9"/>
                </a:solidFill>
                <a:latin typeface="Aptos Display"/>
              </a:defRPr>
            </a:pPr>
            <a:r>
              <a:rPr dirty="0"/>
              <a:t>Strategic Recommendations II </a:t>
            </a:r>
            <a:r>
              <a:rPr lang="en-US" dirty="0"/>
              <a:t>-</a:t>
            </a:r>
            <a:r>
              <a:rPr dirty="0"/>
              <a:t> Customer Retention &amp;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804672"/>
            <a:ext cx="10515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8727C"/>
                </a:solidFill>
                <a:latin typeface="Aptos"/>
              </a:defRPr>
            </a:pPr>
            <a:r>
              <a:t>Protect high-value customers before inactivity becomes churn.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34439"/>
            <a:ext cx="3383280" cy="1058400"/>
          </a:xfrm>
          <a:prstGeom prst="roundRect">
            <a:avLst/>
          </a:prstGeom>
          <a:solidFill>
            <a:srgbClr val="F4F7FA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344168"/>
            <a:ext cx="1598258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D49"/>
                </a:solidFill>
                <a:latin typeface="Aptos"/>
              </a:defRPr>
            </a:pPr>
            <a:r>
              <a:rPr sz="1250" dirty="0"/>
              <a:t>Immediate: High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709928"/>
            <a:ext cx="313173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00">
                <a:solidFill>
                  <a:srgbClr val="2B343E"/>
                </a:solidFill>
                <a:latin typeface="Aptos"/>
              </a:defRPr>
            </a:pPr>
            <a:r>
              <a:rPr sz="1050" dirty="0"/>
              <a:t>Re-engage Daan Peeters, the only High Risk customer, with a personalized offer based on past purchases.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234440"/>
            <a:ext cx="3383280" cy="1077403"/>
          </a:xfrm>
          <a:prstGeom prst="roundRect">
            <a:avLst/>
          </a:prstGeom>
          <a:solidFill>
            <a:srgbClr val="F4F7FA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16552" y="1344168"/>
            <a:ext cx="1635384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D49"/>
                </a:solidFill>
                <a:latin typeface="Aptos"/>
              </a:defRPr>
            </a:pPr>
            <a:r>
              <a:rPr sz="1250" dirty="0"/>
              <a:t>Priority: Medium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1683033"/>
            <a:ext cx="310896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00">
                <a:solidFill>
                  <a:srgbClr val="2B343E"/>
                </a:solidFill>
                <a:latin typeface="Aptos"/>
              </a:defRPr>
            </a:pPr>
            <a:r>
              <a:rPr sz="1050" dirty="0"/>
              <a:t>Target 15 Medium Risk customers before they cross 365 days</a:t>
            </a:r>
            <a:r>
              <a:rPr lang="en-US" sz="1050" dirty="0"/>
              <a:t> of </a:t>
            </a:r>
            <a:r>
              <a:rPr sz="1050" dirty="0"/>
              <a:t>inactiv</a:t>
            </a:r>
            <a:r>
              <a:rPr lang="en-US" sz="1050" dirty="0"/>
              <a:t>ity</a:t>
            </a:r>
            <a:r>
              <a:rPr sz="1050" dirty="0"/>
              <a:t>. High-value examples include Fran</a:t>
            </a:r>
            <a:r>
              <a:rPr lang="en-US" sz="1050" dirty="0"/>
              <a:t>c</a:t>
            </a:r>
            <a:r>
              <a:rPr sz="1050" dirty="0"/>
              <a:t>ois Tremblay and Enrique Mu</a:t>
            </a:r>
            <a:r>
              <a:rPr lang="en-US" sz="1050" dirty="0"/>
              <a:t>n</a:t>
            </a:r>
            <a:r>
              <a:rPr sz="1050" dirty="0"/>
              <a:t>oz.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1234440"/>
            <a:ext cx="3383280" cy="1077403"/>
          </a:xfrm>
          <a:prstGeom prst="roundRect">
            <a:avLst/>
          </a:prstGeom>
          <a:solidFill>
            <a:srgbClr val="F4F7FA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74152" y="1344168"/>
            <a:ext cx="1166666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2D49"/>
                </a:solidFill>
                <a:latin typeface="Aptos"/>
              </a:defRPr>
            </a:pPr>
            <a:r>
              <a:rPr sz="1250" dirty="0"/>
              <a:t>Protect: 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1683033"/>
            <a:ext cx="306323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00">
                <a:solidFill>
                  <a:srgbClr val="2B343E"/>
                </a:solidFill>
                <a:latin typeface="Aptos"/>
              </a:defRPr>
            </a:pPr>
            <a:r>
              <a:rPr sz="1050" dirty="0"/>
              <a:t>Keep 43 Active customers engaged with loyalty rewards, personalized recommendations and early access.</a:t>
            </a:r>
          </a:p>
        </p:txBody>
      </p:sp>
      <p:pic>
        <p:nvPicPr>
          <p:cNvPr id="19" name="Picture 18" descr="chinook_visual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49305"/>
            <a:ext cx="4343400" cy="274001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056632" y="3703452"/>
            <a:ext cx="1371600" cy="29260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54771" y="3721740"/>
            <a:ext cx="117532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sz="1000" dirty="0"/>
              <a:t>CUSTOMER VALUE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56632" y="4222893"/>
            <a:ext cx="1830079" cy="741787"/>
          </a:xfrm>
          <a:prstGeom prst="roundRect">
            <a:avLst/>
          </a:prstGeom>
          <a:solidFill>
            <a:srgbClr val="FFFFFF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1051" y="4611716"/>
            <a:ext cx="17533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8727C"/>
                </a:solidFill>
                <a:latin typeface="Aptos"/>
              </a:defRPr>
            </a:pPr>
            <a:r>
              <a:rPr dirty="0"/>
              <a:t>Predicted 5-year CLV • Active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54242" y="4223080"/>
            <a:ext cx="1907689" cy="741600"/>
          </a:xfrm>
          <a:prstGeom prst="roundRect">
            <a:avLst/>
          </a:prstGeom>
          <a:solidFill>
            <a:srgbClr val="FFFFFF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3947" y="4611715"/>
            <a:ext cx="17461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8727C"/>
                </a:solidFill>
                <a:latin typeface="Aptos"/>
              </a:defRPr>
            </a:pPr>
            <a:r>
              <a:rPr dirty="0"/>
              <a:t>Predicted 5-year CLV • At-Risk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5148312"/>
            <a:ext cx="4885227" cy="479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B343E"/>
                </a:solidFill>
                <a:latin typeface="Aptos"/>
              </a:defRPr>
            </a:pPr>
            <a:r>
              <a:rPr dirty="0"/>
              <a:t>• Predicted CLV is higher than current value in every segment.</a:t>
            </a:r>
          </a:p>
          <a:p>
            <a:pPr>
              <a:spcAft>
                <a:spcPts val="500"/>
              </a:spcAft>
              <a:defRPr sz="1050">
                <a:solidFill>
                  <a:srgbClr val="2B343E"/>
                </a:solidFill>
                <a:latin typeface="Aptos"/>
              </a:defRPr>
            </a:pPr>
            <a:r>
              <a:rPr dirty="0"/>
              <a:t>• That makes re-engagement economically meaningful, not just a retention exercise.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0352" y="6601968"/>
            <a:ext cx="2414444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8727C"/>
                </a:solidFill>
                <a:latin typeface="Aptos"/>
              </a:defRPr>
            </a:pPr>
            <a:r>
              <a:rPr lang="en-IN" dirty="0"/>
              <a:t>• Chinook Music Store • SQL Analysis &amp; Business Insights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7453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27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1470D9-6171-9541-84CF-139E3CC97798}"/>
              </a:ext>
            </a:extLst>
          </p:cNvPr>
          <p:cNvSpPr txBox="1"/>
          <p:nvPr/>
        </p:nvSpPr>
        <p:spPr>
          <a:xfrm>
            <a:off x="5133396" y="4290356"/>
            <a:ext cx="917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49"/>
                </a:solidFill>
                <a:latin typeface="Aptos"/>
              </a:defRPr>
            </a:pPr>
            <a:r>
              <a:rPr lang="en-IN" sz="1600" dirty="0"/>
              <a:t>$110.61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2085D2-08AF-6345-9DE7-D5FA99540B99}"/>
              </a:ext>
            </a:extLst>
          </p:cNvPr>
          <p:cNvSpPr txBox="1"/>
          <p:nvPr/>
        </p:nvSpPr>
        <p:spPr>
          <a:xfrm>
            <a:off x="7313947" y="4299843"/>
            <a:ext cx="9176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49"/>
                </a:solidFill>
                <a:latin typeface="Aptos"/>
              </a:defRPr>
            </a:pPr>
            <a:r>
              <a:rPr lang="en-IN" sz="1600" dirty="0"/>
              <a:t>$99.83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98755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2D49"/>
                </a:solidFill>
                <a:latin typeface="Aptos Display"/>
              </a:defRPr>
            </a:pPr>
            <a:r>
              <a:rPr dirty="0"/>
              <a:t>Strategic Recommendations III </a:t>
            </a:r>
            <a:r>
              <a:rPr lang="en-US" dirty="0"/>
              <a:t>-</a:t>
            </a:r>
            <a:r>
              <a:rPr dirty="0"/>
              <a:t> Regional Growth &amp; Data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6" y="786742"/>
            <a:ext cx="475900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8727C"/>
                </a:solidFill>
                <a:latin typeface="Aptos"/>
              </a:defRPr>
            </a:pPr>
            <a:r>
              <a:rPr dirty="0"/>
              <a:t>Use strong markets for expansion and unique regional preferences for localization.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59" y="1239675"/>
            <a:ext cx="3384000" cy="1162059"/>
          </a:xfrm>
          <a:prstGeom prst="roundRect">
            <a:avLst/>
          </a:prstGeom>
          <a:solidFill>
            <a:srgbClr val="F4F7FA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4127" y="1344168"/>
            <a:ext cx="143560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49"/>
                </a:solidFill>
                <a:latin typeface="Aptos"/>
              </a:defRPr>
            </a:pPr>
            <a:r>
              <a:rPr sz="1250" dirty="0"/>
              <a:t>Prioritize Prague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126" y="1664341"/>
            <a:ext cx="280003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00">
                <a:solidFill>
                  <a:srgbClr val="2B343E"/>
                </a:solidFill>
                <a:latin typeface="Aptos"/>
              </a:defRPr>
            </a:pPr>
            <a:r>
              <a:rPr sz="1050" dirty="0"/>
              <a:t>Prague combines the highest average spending ($136.62) with 30 total purchases. Use it as a benchmark market for local promotions.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1979" y="1234439"/>
            <a:ext cx="3384000" cy="1196855"/>
          </a:xfrm>
          <a:prstGeom prst="roundRect">
            <a:avLst/>
          </a:prstGeom>
          <a:solidFill>
            <a:srgbClr val="F4F7FA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4917" y="1344167"/>
            <a:ext cx="145700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49"/>
                </a:solidFill>
                <a:latin typeface="Aptos"/>
              </a:defRPr>
            </a:pPr>
            <a:r>
              <a:rPr sz="1250" dirty="0"/>
              <a:t>Re-engage Brussels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777" y="1664341"/>
            <a:ext cx="2733599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00">
                <a:solidFill>
                  <a:srgbClr val="2B343E"/>
                </a:solidFill>
                <a:latin typeface="Aptos"/>
              </a:defRPr>
            </a:pPr>
            <a:r>
              <a:rPr sz="1050" dirty="0"/>
              <a:t>Brussels is the only city with 100% churn in the regional analysis. Investigate the customer journey and test a targeted win-back offer.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234439"/>
            <a:ext cx="3383280" cy="1188000"/>
          </a:xfrm>
          <a:prstGeom prst="roundRect">
            <a:avLst/>
          </a:prstGeom>
          <a:solidFill>
            <a:srgbClr val="F4F7FA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0136" y="1344167"/>
            <a:ext cx="1482224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82D49"/>
                </a:solidFill>
                <a:latin typeface="Aptos"/>
              </a:defRPr>
            </a:pPr>
            <a:r>
              <a:rPr sz="1250" dirty="0"/>
              <a:t>Localize by genre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0136" y="1638005"/>
            <a:ext cx="2862788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100">
                <a:solidFill>
                  <a:srgbClr val="2B343E"/>
                </a:solidFill>
                <a:latin typeface="Aptos"/>
              </a:defRPr>
            </a:pPr>
            <a:r>
              <a:rPr sz="1050" dirty="0"/>
              <a:t>Rock is broadly dominant, but Argentina, Austria, Germany, Spain, Ireland, Poland,</a:t>
            </a:r>
            <a:r>
              <a:rPr lang="en-US" sz="1050" dirty="0"/>
              <a:t> </a:t>
            </a:r>
            <a:r>
              <a:rPr sz="1050" dirty="0"/>
              <a:t>and the Netherlands show useful genre differences.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7574" y="4817026"/>
            <a:ext cx="1600200" cy="292608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90859" y="4835314"/>
            <a:ext cx="15536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rPr sz="1000" dirty="0"/>
              <a:t>FUTURE DATA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9014" y="5228506"/>
            <a:ext cx="5768266" cy="93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B343E"/>
                </a:solidFill>
                <a:latin typeface="Aptos"/>
              </a:defRPr>
            </a:pPr>
            <a:r>
              <a:rPr sz="1050" dirty="0"/>
              <a:t>• Capture age and gender fields to strengthen customer segmentation.</a:t>
            </a:r>
          </a:p>
          <a:p>
            <a:pPr>
              <a:spcAft>
                <a:spcPts val="500"/>
              </a:spcAft>
              <a:defRPr sz="1200">
                <a:solidFill>
                  <a:srgbClr val="2B343E"/>
                </a:solidFill>
                <a:latin typeface="Aptos"/>
              </a:defRPr>
            </a:pPr>
            <a:r>
              <a:rPr sz="1050" dirty="0"/>
              <a:t>• Capture payment method to complete purchasing-behavior analysis.</a:t>
            </a:r>
          </a:p>
          <a:p>
            <a:pPr>
              <a:spcAft>
                <a:spcPts val="500"/>
              </a:spcAft>
              <a:defRPr sz="1200">
                <a:solidFill>
                  <a:srgbClr val="2B343E"/>
                </a:solidFill>
                <a:latin typeface="Aptos"/>
              </a:defRPr>
            </a:pPr>
            <a:r>
              <a:rPr sz="1050" dirty="0"/>
              <a:t>• Capture campaign IDs and exposure dates to measure acquisition and retention impact.</a:t>
            </a:r>
          </a:p>
          <a:p>
            <a:pPr>
              <a:spcAft>
                <a:spcPts val="500"/>
              </a:spcAft>
              <a:defRPr sz="1200">
                <a:solidFill>
                  <a:srgbClr val="2B343E"/>
                </a:solidFill>
                <a:latin typeface="Aptos"/>
              </a:defRPr>
            </a:pPr>
            <a:r>
              <a:rPr sz="1050" dirty="0"/>
              <a:t>• Maintain clear dates and customer-level history so churn and CLV remain reusable.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65392"/>
            <a:ext cx="11155680" cy="10972"/>
          </a:xfrm>
          <a:prstGeom prst="rect">
            <a:avLst/>
          </a:prstGeom>
          <a:solidFill>
            <a:srgbClr val="DE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6601968"/>
            <a:ext cx="2414444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8727C"/>
                </a:solidFill>
                <a:latin typeface="Aptos"/>
              </a:defRPr>
            </a:pPr>
            <a:r>
              <a:rPr lang="en-IN" dirty="0"/>
              <a:t>• Chinook Music Store • SQL Analysis &amp; Business 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7453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8727C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26" name="Picture 25" descr="chinook_visual_31.png">
            <a:extLst>
              <a:ext uri="{FF2B5EF4-FFF2-40B4-BE49-F238E27FC236}">
                <a16:creationId xmlns:a16="http://schemas.microsoft.com/office/drawing/2014/main" id="{51BD63B7-F692-EE49-817B-1E75695FB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93" y="2922773"/>
            <a:ext cx="4759005" cy="31986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108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C35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778493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674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SQL evidence to practical business action.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621790" y="3229084"/>
            <a:ext cx="3392968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6788" y="3457684"/>
            <a:ext cx="487495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45655" y="3446034"/>
            <a:ext cx="10627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53.38%</a:t>
            </a:r>
            <a:endParaRPr lang="en-US" sz="1600" dirty="0">
              <a:solidFill>
                <a:schemeClr val="accent6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448962" y="3695070"/>
            <a:ext cx="120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1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sales from Rock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42268" y="3558268"/>
            <a:ext cx="971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A7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product demand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63253" y="3229084"/>
            <a:ext cx="3392968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58251" y="3457684"/>
            <a:ext cx="487495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2724" y="3471758"/>
            <a:ext cx="744257" cy="22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/ 23</a:t>
            </a:r>
            <a:endParaRPr lang="en-US" sz="1600" dirty="0">
              <a:solidFill>
                <a:schemeClr val="accent6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72495" y="3677140"/>
            <a:ext cx="1062741" cy="2083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1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non-USA countries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83731" y="3558268"/>
            <a:ext cx="838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A7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Rock ranks #1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304716" y="3229084"/>
            <a:ext cx="3392968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99715" y="3457684"/>
            <a:ext cx="487495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13958" y="3425411"/>
            <a:ext cx="12133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Customers</a:t>
            </a:r>
            <a:endParaRPr lang="en-US" sz="1600" dirty="0">
              <a:solidFill>
                <a:schemeClr val="accent6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13959" y="3686284"/>
            <a:ext cx="1213382" cy="190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3141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+ Medium Risk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625194" y="3558268"/>
            <a:ext cx="838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A7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priority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" y="24963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0" y="1166486"/>
            <a:ext cx="3524210" cy="10926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397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AAB4C2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1" y="1166486"/>
            <a:ext cx="62772" cy="10926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4611" y="1349366"/>
            <a:ext cx="209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C35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Product demand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4610" y="1607906"/>
            <a:ext cx="3220059" cy="461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E3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Rock leads USA sales and remains the dominant genre across most international markets.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1514" y="1166486"/>
            <a:ext cx="3524210" cy="10926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397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AAB4C2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41515" y="1166486"/>
            <a:ext cx="62772" cy="10926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4335" y="1349366"/>
            <a:ext cx="1462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C35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Customer value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54334" y="1607906"/>
            <a:ext cx="3220059" cy="4611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E3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customers are low risk, but the 1 High Risk and 15 Medium Risk customers need timely retention action.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61238" y="1166486"/>
            <a:ext cx="3636446" cy="109262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3970">
            <a:solidFill>
              <a:srgbClr val="D9E1EA"/>
            </a:solidFill>
            <a:prstDash val="solid"/>
          </a:ln>
          <a:effectLst>
            <a:outerShdw blurRad="12700" dist="50800" dir="2700000" algn="bl" rotWithShape="0">
              <a:srgbClr val="AAB4C2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61239" y="1166486"/>
            <a:ext cx="62772" cy="10926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4058" y="1349366"/>
            <a:ext cx="1656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C35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Regional opportunity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274058" y="1607906"/>
            <a:ext cx="3220059" cy="4324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E3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High-spending markets such as the Czech Republic, Ireland and Spain show opportunities for localized growth.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" y="4980787"/>
            <a:ext cx="11075894" cy="693868"/>
          </a:xfrm>
          <a:prstGeom prst="roundRect">
            <a:avLst>
              <a:gd name="adj" fmla="val 7407"/>
            </a:avLst>
          </a:prstGeom>
          <a:solidFill>
            <a:srgbClr val="1C3556"/>
          </a:solidFill>
          <a:ln w="12700">
            <a:solidFill>
              <a:srgbClr val="1C35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7586" y="5209387"/>
            <a:ext cx="2219216" cy="21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kern="0" spc="80" dirty="0">
                <a:solidFill>
                  <a:schemeClr val="accent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CHINOOK SHOULD DO NEXT</a:t>
            </a:r>
            <a:endParaRPr lang="en-US" sz="1050" dirty="0">
              <a:solidFill>
                <a:schemeClr val="accent6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11282" y="5172811"/>
            <a:ext cx="274320" cy="27432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E978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11282" y="5268107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3577487" y="5154523"/>
            <a:ext cx="157356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proven demand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98508" y="5172811"/>
            <a:ext cx="274320" cy="27432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E978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98508" y="5268107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673591" y="5154523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Re-engage at-risk customers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65636" y="5172811"/>
            <a:ext cx="274320" cy="27432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E978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65636" y="5268107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7840719" y="5154523"/>
            <a:ext cx="1856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high-value markets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632764" y="5172811"/>
            <a:ext cx="274320" cy="274320"/>
          </a:xfrm>
          <a:prstGeom prst="ellipse">
            <a:avLst/>
          </a:prstGeom>
          <a:solidFill>
            <a:schemeClr val="accent6"/>
          </a:solidFill>
          <a:ln w="12700">
            <a:solidFill>
              <a:srgbClr val="E978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32764" y="5268107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10007847" y="5154523"/>
            <a:ext cx="15776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better business data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21791" y="5843016"/>
            <a:ext cx="11075895" cy="482126"/>
          </a:xfrm>
          <a:prstGeom prst="roundRect">
            <a:avLst>
              <a:gd name="adj" fmla="val 9677"/>
            </a:avLst>
          </a:prstGeom>
          <a:solidFill>
            <a:srgbClr val="EDF3F8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85329" y="5969779"/>
            <a:ext cx="72628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35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creates business value when insights become decisions, and decisions become action.</a:t>
            </a:r>
            <a:endParaRPr lang="en-US" sz="125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32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4809</TotalTime>
  <Words>1991</Words>
  <Application>Microsoft Macintosh PowerPoint</Application>
  <PresentationFormat>Widescreen</PresentationFormat>
  <Paragraphs>276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103</cp:revision>
  <dcterms:created xsi:type="dcterms:W3CDTF">2013-01-27T09:14:16Z</dcterms:created>
  <dcterms:modified xsi:type="dcterms:W3CDTF">2026-10-01T12:08:04Z</dcterms:modified>
  <cp:category/>
</cp:coreProperties>
</file>